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nyFish" id="{1c1cf98e-b8ce-d923-ea9c-1e6ce2786533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honest framing: our deck claims smart routing with live inventory, and the code has no live inventory. Indian public-health data is published on portals with no API, which is exactly what TinyFish web agents read. Nothing here is built yet — this is the plan, phased so the pilot carries no clinical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rules mirror what the platform already does with AI: the rules engine sets the triage tier, the model may only raise it, and the doctor decides. An external web signal sits one level below that — it is a cited fact on screen, never an input to a decision the system makes. If TinyFish is unavailable or a portal changes, the platform behaves exactly as it does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47472"/>
            <a:ext cx="1124712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641908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076"/>
                </a:solidFill>
              </a:rPr>
              <a:t>Rural Health Grid  ·  SIH 2026  ·  PS 26133  ·  Team UnfilteredEngineers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70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70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47472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you plan to integrate the TinyFish API?</a:t>
            </a:r>
            <a:endParaRPr lang="en-US" sz="3200" dirty="0"/>
          </a:p>
        </p:txBody>
      </p:sp>
      <p:sp>
        <p:nvSpPr>
          <p:cNvPr id="3" name="kicker"/>
          <p:cNvSpPr txBox="1"/>
          <p:nvPr/>
        </p:nvSpPr>
        <p:spPr>
          <a:xfrm>
            <a:off x="457200" y="1042416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2A33"/>
                </a:solidFill>
              </a:rPr>
              <a:t>Every fact a village health worker needs is already published by the government — </a:t>
            </a:r>
            <a:pPr indent="0" marL="0">
              <a:buNone/>
            </a:pPr>
            <a:r>
              <a:rPr lang="en-US" sz="1400" b="1" dirty="0">
                <a:solidFill>
                  <a:srgbClr val="E08A3C"/>
                </a:solidFill>
              </a:rPr>
              <a:t>on portals with no API</a:t>
            </a:r>
            <a:pPr indent="0" marL="0">
              <a:buNone/>
            </a:pPr>
            <a:r>
              <a:rPr lang="en-US" sz="1400" dirty="0">
                <a:solidFill>
                  <a:srgbClr val="0E2A33"/>
                </a:solidFill>
              </a:rPr>
              <a:t>. TinyFish web agents read those portals. Our existing safety rules decide what a clinician is allowed to see.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6420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28090"/>
                </a:solidFill>
              </a:rPr>
              <a:t>WHAT THE AGENTS READ</a:t>
            </a:r>
            <a:endParaRPr lang="en-US" sz="1100" dirty="0"/>
          </a:p>
        </p:txBody>
      </p:sp>
      <p:sp>
        <p:nvSpPr>
          <p:cNvPr id="5" name="card-1"/>
          <p:cNvSpPr/>
          <p:nvPr/>
        </p:nvSpPr>
        <p:spPr>
          <a:xfrm>
            <a:off x="457200" y="1975104"/>
            <a:ext cx="2088490" cy="2487168"/>
          </a:xfrm>
          <a:prstGeom prst="roundRect">
            <a:avLst>
              <a:gd name="adj" fmla="val 3503"/>
            </a:avLst>
          </a:prstGeom>
          <a:solidFill>
            <a:srgbClr val="EEF5F6"/>
          </a:solidFill>
          <a:ln w="9525">
            <a:solidFill>
              <a:srgbClr val="D6E4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2139696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2139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613002" y="2167128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A7076"/>
                </a:solidFill>
              </a:rPr>
              <a:t>District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578608"/>
            <a:ext cx="17593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referral intelligence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3163824"/>
            <a:ext cx="175930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076"/>
                </a:solidFill>
              </a:rPr>
              <a:t>eRaktKosh blood stock · state bed and ICU dashboards · PM-JAY empanelment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3858768"/>
            <a:ext cx="175930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1505E"/>
                </a:solidFill>
              </a:rPr>
              <a:t>Ends referrals to a hospital that cannot treat this patient today</a:t>
            </a:r>
            <a:endParaRPr lang="en-US" sz="1050" dirty="0"/>
          </a:p>
        </p:txBody>
      </p:sp>
      <p:sp>
        <p:nvSpPr>
          <p:cNvPr id="12" name="card-2"/>
          <p:cNvSpPr/>
          <p:nvPr/>
        </p:nvSpPr>
        <p:spPr>
          <a:xfrm>
            <a:off x="2746858" y="1975104"/>
            <a:ext cx="2088490" cy="2487168"/>
          </a:xfrm>
          <a:prstGeom prst="roundRect">
            <a:avLst>
              <a:gd name="adj" fmla="val 3503"/>
            </a:avLst>
          </a:prstGeom>
          <a:solidFill>
            <a:srgbClr val="EEF5F6"/>
          </a:solidFill>
          <a:ln w="9525">
            <a:solidFill>
              <a:srgbClr val="D6E4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11450" y="2139696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11450" y="2139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902659" y="2167128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A7076"/>
                </a:solidFill>
              </a:rPr>
              <a:t>District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2911450" y="2578608"/>
            <a:ext cx="17593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Medicine availability and price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2911450" y="3163824"/>
            <a:ext cx="175930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076"/>
                </a:solidFill>
              </a:rPr>
              <a:t>Jan Aushadhi Kendra stock · NPPA ceiling prices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2911450" y="3858768"/>
            <a:ext cx="175930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1505E"/>
                </a:solidFill>
              </a:rPr>
              <a:t>The doctor names a medicine the patient can actually obtain nearby</a:t>
            </a:r>
            <a:endParaRPr lang="en-US" sz="1050" dirty="0"/>
          </a:p>
        </p:txBody>
      </p:sp>
      <p:sp>
        <p:nvSpPr>
          <p:cNvPr id="19" name="card-3"/>
          <p:cNvSpPr/>
          <p:nvPr/>
        </p:nvSpPr>
        <p:spPr>
          <a:xfrm>
            <a:off x="5036515" y="1975104"/>
            <a:ext cx="2088490" cy="2487168"/>
          </a:xfrm>
          <a:prstGeom prst="roundRect">
            <a:avLst>
              <a:gd name="adj" fmla="val 3503"/>
            </a:avLst>
          </a:prstGeom>
          <a:solidFill>
            <a:srgbClr val="EEF5F6"/>
          </a:solidFill>
          <a:ln w="9525">
            <a:solidFill>
              <a:srgbClr val="D6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01107" y="2139696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01107" y="2139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192317" y="2167128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A7076"/>
                </a:solidFill>
              </a:rPr>
              <a:t>Pilot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5201107" y="2578608"/>
            <a:ext cx="17593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 freshness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201107" y="3163824"/>
            <a:ext cx="175930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076"/>
                </a:solidFill>
              </a:rPr>
              <a:t>MoHFW · IPHS · WHO guideline pages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5201107" y="3858768"/>
            <a:ext cx="175930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1505E"/>
                </a:solidFill>
              </a:rPr>
              <a:t>Retrieval library stays current, with title, version and source URL</a:t>
            </a:r>
            <a:endParaRPr lang="en-US" sz="1050" dirty="0"/>
          </a:p>
        </p:txBody>
      </p:sp>
      <p:sp>
        <p:nvSpPr>
          <p:cNvPr id="26" name="card-4"/>
          <p:cNvSpPr/>
          <p:nvPr/>
        </p:nvSpPr>
        <p:spPr>
          <a:xfrm>
            <a:off x="7326173" y="1975104"/>
            <a:ext cx="2088490" cy="2487168"/>
          </a:xfrm>
          <a:prstGeom prst="roundRect">
            <a:avLst>
              <a:gd name="adj" fmla="val 3503"/>
            </a:avLst>
          </a:prstGeom>
          <a:solidFill>
            <a:srgbClr val="EEF5F6"/>
          </a:solidFill>
          <a:ln w="9525">
            <a:solidFill>
              <a:srgbClr val="D6E4E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90765" y="2139696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490765" y="2139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481974" y="2167128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A7076"/>
                </a:solidFill>
              </a:rPr>
              <a:t>Pilot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7490765" y="2578608"/>
            <a:ext cx="17593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 credential check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7490765" y="3163824"/>
            <a:ext cx="175930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076"/>
                </a:solidFill>
              </a:rPr>
              <a:t>NMC National Medical Register search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7490765" y="3858768"/>
            <a:ext cx="175930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1505E"/>
                </a:solidFill>
              </a:rPr>
              <a:t>Telemedicine Guidelines 2020 require a registered practitioner</a:t>
            </a:r>
            <a:endParaRPr lang="en-US" sz="1050" dirty="0"/>
          </a:p>
        </p:txBody>
      </p:sp>
      <p:sp>
        <p:nvSpPr>
          <p:cNvPr id="33" name="card-5"/>
          <p:cNvSpPr/>
          <p:nvPr/>
        </p:nvSpPr>
        <p:spPr>
          <a:xfrm>
            <a:off x="9615830" y="1975104"/>
            <a:ext cx="2088490" cy="2487168"/>
          </a:xfrm>
          <a:prstGeom prst="roundRect">
            <a:avLst>
              <a:gd name="adj" fmla="val 3503"/>
            </a:avLst>
          </a:prstGeom>
          <a:solidFill>
            <a:srgbClr val="EEF5F6"/>
          </a:solidFill>
          <a:ln w="9525">
            <a:solidFill>
              <a:srgbClr val="D6E4E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80422" y="2139696"/>
            <a:ext cx="347472" cy="347472"/>
          </a:xfrm>
          <a:prstGeom prst="ellipse">
            <a:avLst/>
          </a:prstGeom>
          <a:solidFill>
            <a:srgbClr val="7A519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780422" y="2139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10771632" y="2167128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A7076"/>
                </a:solidFill>
              </a:rPr>
              <a:t>State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9780422" y="2578608"/>
            <a:ext cx="17593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eSanjeevani hand-off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9780422" y="3163824"/>
            <a:ext cx="175930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076"/>
                </a:solidFill>
              </a:rPr>
              <a:t>National teleconsultation portal — only with written authorisation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9780422" y="3858768"/>
            <a:ext cx="175930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1505E"/>
                </a:solidFill>
              </a:rPr>
              <a:t>Complements the national platform instead of duplicating it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47000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28090"/>
                </a:solidFill>
              </a:rPr>
              <a:t>HOW IT SHIPS</a:t>
            </a:r>
            <a:endParaRPr lang="en-US" sz="1100" dirty="0"/>
          </a:p>
        </p:txBody>
      </p:sp>
      <p:sp>
        <p:nvSpPr>
          <p:cNvPr id="41" name="phase-0"/>
          <p:cNvSpPr/>
          <p:nvPr/>
        </p:nvSpPr>
        <p:spPr>
          <a:xfrm>
            <a:off x="457200" y="4992624"/>
            <a:ext cx="3614928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40080" y="5102352"/>
            <a:ext cx="3249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</a:rPr>
              <a:t>Pilot — 1 PHC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640080" y="5394960"/>
            <a:ext cx="3249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2A33"/>
                </a:solidFill>
              </a:rPr>
              <a:t>Agents 3 and 4. Read-only, no patient data, no clinical risk.</a:t>
            </a:r>
            <a:endParaRPr lang="en-US" sz="1100" dirty="0"/>
          </a:p>
        </p:txBody>
      </p:sp>
      <p:sp>
        <p:nvSpPr>
          <p:cNvPr id="44" name="phase-1"/>
          <p:cNvSpPr/>
          <p:nvPr/>
        </p:nvSpPr>
        <p:spPr>
          <a:xfrm>
            <a:off x="4273296" y="4992624"/>
            <a:ext cx="3614928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456176" y="5102352"/>
            <a:ext cx="3249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</a:rPr>
              <a:t>District — ~40 sub-centres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4456176" y="5394960"/>
            <a:ext cx="3249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2A33"/>
                </a:solidFill>
              </a:rPr>
              <a:t>Agents 1 and 2, measured against the referral-completion baseline we already record.</a:t>
            </a:r>
            <a:endParaRPr lang="en-US" sz="1100" dirty="0"/>
          </a:p>
        </p:txBody>
      </p:sp>
      <p:sp>
        <p:nvSpPr>
          <p:cNvPr id="47" name="phase-2"/>
          <p:cNvSpPr/>
          <p:nvPr/>
        </p:nvSpPr>
        <p:spPr>
          <a:xfrm>
            <a:off x="8089392" y="4992624"/>
            <a:ext cx="3614928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272272" y="5102352"/>
            <a:ext cx="3249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</a:rPr>
              <a:t>State</a:t>
            </a:r>
            <a:endParaRPr lang="en-US" sz="1250" dirty="0"/>
          </a:p>
        </p:txBody>
      </p:sp>
      <p:sp>
        <p:nvSpPr>
          <p:cNvPr id="49" name="Text 47"/>
          <p:cNvSpPr txBox="1"/>
          <p:nvPr/>
        </p:nvSpPr>
        <p:spPr>
          <a:xfrm>
            <a:off x="8272272" y="5394960"/>
            <a:ext cx="3249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2A33"/>
                </a:solidFill>
              </a:rPr>
              <a:t>Agent 5 with authorisation; webhooks feed the district outcome dashboard.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70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47472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Architecture, and the three rules that keep it safe</a:t>
            </a:r>
            <a:endParaRPr lang="en-US" sz="3200" dirty="0"/>
          </a:p>
        </p:txBody>
      </p:sp>
      <p:sp>
        <p:nvSpPr>
          <p:cNvPr id="3" name="ui"/>
          <p:cNvSpPr/>
          <p:nvPr/>
        </p:nvSpPr>
        <p:spPr>
          <a:xfrm>
            <a:off x="457200" y="1371600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5216" y="13716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33"/>
                </a:solidFill>
              </a:rPr>
              <a:t>Clinic UI (React)</a:t>
            </a:r>
            <a:endParaRPr lang="en-US" sz="1200" dirty="0"/>
          </a:p>
        </p:txBody>
      </p:sp>
      <p:sp>
        <p:nvSpPr>
          <p:cNvPr id="5" name="flow"/>
          <p:cNvSpPr/>
          <p:nvPr/>
        </p:nvSpPr>
        <p:spPr>
          <a:xfrm>
            <a:off x="1828800" y="1828800"/>
            <a:ext cx="0" cy="329184"/>
          </a:xfrm>
          <a:prstGeom prst="line">
            <a:avLst/>
          </a:prstGeom>
          <a:noFill/>
          <a:ln w="19050">
            <a:solidFill>
              <a:srgbClr val="9FB7BC"/>
            </a:solidFill>
            <a:prstDash val="solid"/>
            <a:tailEnd type="triangle"/>
          </a:ln>
        </p:spPr>
      </p:sp>
      <p:sp>
        <p:nvSpPr>
          <p:cNvPr id="6" name="api"/>
          <p:cNvSpPr/>
          <p:nvPr/>
        </p:nvSpPr>
        <p:spPr>
          <a:xfrm>
            <a:off x="457200" y="2157984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" y="2157984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33"/>
                </a:solidFill>
              </a:rPr>
              <a:t>Node / Express API</a:t>
            </a:r>
            <a:endParaRPr lang="en-US" sz="1200" dirty="0"/>
          </a:p>
        </p:txBody>
      </p:sp>
      <p:sp>
        <p:nvSpPr>
          <p:cNvPr id="8" name="flow"/>
          <p:cNvSpPr/>
          <p:nvPr/>
        </p:nvSpPr>
        <p:spPr>
          <a:xfrm>
            <a:off x="1828800" y="2615184"/>
            <a:ext cx="0" cy="329184"/>
          </a:xfrm>
          <a:prstGeom prst="line">
            <a:avLst/>
          </a:prstGeom>
          <a:noFill/>
          <a:ln w="19050">
            <a:solidFill>
              <a:srgbClr val="9FB7BC"/>
            </a:solidFill>
            <a:prstDash val="solid"/>
            <a:tailEnd type="triangle"/>
          </a:ln>
        </p:spPr>
      </p:sp>
      <p:sp>
        <p:nvSpPr>
          <p:cNvPr id="9" name="svc"/>
          <p:cNvSpPr/>
          <p:nvPr/>
        </p:nvSpPr>
        <p:spPr>
          <a:xfrm>
            <a:off x="457200" y="2944368"/>
            <a:ext cx="356616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85216" y="3035808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33"/>
                </a:solidFill>
              </a:rPr>
              <a:t>webAgentService.js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85216" y="329184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076"/>
                </a:solidFill>
              </a:rPr>
              <a:t>feature flag: web_agent_lookup</a:t>
            </a:r>
            <a:endParaRPr lang="en-US" sz="1000" dirty="0"/>
          </a:p>
        </p:txBody>
      </p:sp>
      <p:sp>
        <p:nvSpPr>
          <p:cNvPr id="12" name="flow"/>
          <p:cNvSpPr/>
          <p:nvPr/>
        </p:nvSpPr>
        <p:spPr>
          <a:xfrm>
            <a:off x="4023360" y="3273552"/>
            <a:ext cx="640080" cy="0"/>
          </a:xfrm>
          <a:prstGeom prst="line">
            <a:avLst/>
          </a:prstGeom>
          <a:noFill/>
          <a:ln w="19050">
            <a:solidFill>
              <a:srgbClr val="9FB7BC"/>
            </a:solidFill>
            <a:prstDash val="solid"/>
            <a:tailEnd type="triangle"/>
          </a:ln>
        </p:spPr>
      </p:sp>
      <p:sp>
        <p:nvSpPr>
          <p:cNvPr id="13" name="tinyfish"/>
          <p:cNvSpPr/>
          <p:nvPr/>
        </p:nvSpPr>
        <p:spPr>
          <a:xfrm>
            <a:off x="4663440" y="2907792"/>
            <a:ext cx="3200400" cy="749808"/>
          </a:xfrm>
          <a:prstGeom prst="roundRect">
            <a:avLst>
              <a:gd name="adj" fmla="val 7317"/>
            </a:avLst>
          </a:prstGeom>
          <a:solidFill>
            <a:srgbClr val="FDF3E8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91456" y="2999232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4B12"/>
                </a:solidFill>
              </a:rPr>
              <a:t>TinyFish Agent API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791456" y="3255264"/>
            <a:ext cx="2944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4B12"/>
                </a:solidFill>
              </a:rPr>
              <a:t>async run + webhook  ·  key in backend env only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369417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076"/>
                </a:solidFill>
              </a:rPr>
              <a:t>eRaktKosh · PM-JAY · Jan Aushadhi · NPPA · MoHFW / IPHS · NMC</a:t>
            </a:r>
            <a:endParaRPr lang="en-US" sz="950" dirty="0"/>
          </a:p>
        </p:txBody>
      </p:sp>
      <p:sp>
        <p:nvSpPr>
          <p:cNvPr id="17" name="flow"/>
          <p:cNvSpPr/>
          <p:nvPr/>
        </p:nvSpPr>
        <p:spPr>
          <a:xfrm>
            <a:off x="1828800" y="3621024"/>
            <a:ext cx="0" cy="384048"/>
          </a:xfrm>
          <a:prstGeom prst="line">
            <a:avLst/>
          </a:prstGeom>
          <a:noFill/>
          <a:ln w="19050">
            <a:solidFill>
              <a:srgbClr val="9FB7BC"/>
            </a:solidFill>
            <a:prstDash val="solid"/>
            <a:tailEnd type="triangle"/>
          </a:ln>
        </p:spPr>
      </p:sp>
      <p:sp>
        <p:nvSpPr>
          <p:cNvPr id="18" name="db"/>
          <p:cNvSpPr/>
          <p:nvPr/>
        </p:nvSpPr>
        <p:spPr>
          <a:xfrm>
            <a:off x="457200" y="4005072"/>
            <a:ext cx="658368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85216" y="4096512"/>
            <a:ext cx="6327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33"/>
                </a:solidFill>
              </a:rPr>
              <a:t>external_signals (Postgres) — one additive migration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85216" y="4352544"/>
            <a:ext cx="6327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076"/>
                </a:solidFill>
              </a:rPr>
              <a:t>source · source_url · payload · fetched_at · expires_at · run_id</a:t>
            </a:r>
            <a:endParaRPr lang="en-US" sz="1000" dirty="0"/>
          </a:p>
        </p:txBody>
      </p:sp>
      <p:sp>
        <p:nvSpPr>
          <p:cNvPr id="21" name="flow"/>
          <p:cNvSpPr/>
          <p:nvPr/>
        </p:nvSpPr>
        <p:spPr>
          <a:xfrm>
            <a:off x="1828800" y="4700016"/>
            <a:ext cx="0" cy="310896"/>
          </a:xfrm>
          <a:prstGeom prst="line">
            <a:avLst/>
          </a:prstGeom>
          <a:noFill/>
          <a:ln w="19050">
            <a:solidFill>
              <a:srgbClr val="9FB7BC"/>
            </a:solidFill>
            <a:prstDash val="solid"/>
            <a:tailEnd type="triangle"/>
          </a:ln>
        </p:spPr>
      </p:sp>
      <p:sp>
        <p:nvSpPr>
          <p:cNvPr id="22" name="flow"/>
          <p:cNvSpPr/>
          <p:nvPr/>
        </p:nvSpPr>
        <p:spPr>
          <a:xfrm>
            <a:off x="5394960" y="4700016"/>
            <a:ext cx="0" cy="310896"/>
          </a:xfrm>
          <a:prstGeom prst="line">
            <a:avLst/>
          </a:prstGeom>
          <a:noFill/>
          <a:ln w="19050">
            <a:solidFill>
              <a:srgbClr val="9FB7BC"/>
            </a:solidFill>
            <a:prstDash val="solid"/>
            <a:tailEnd type="triangle"/>
          </a:ln>
        </p:spPr>
      </p:sp>
      <p:sp>
        <p:nvSpPr>
          <p:cNvPr id="23" name="out1"/>
          <p:cNvSpPr/>
          <p:nvPr/>
        </p:nvSpPr>
        <p:spPr>
          <a:xfrm>
            <a:off x="457200" y="5010912"/>
            <a:ext cx="31089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85216" y="5102352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33"/>
                </a:solidFill>
              </a:rPr>
              <a:t>Clinician sees a cited fact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85216" y="5358384"/>
            <a:ext cx="2852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076"/>
                </a:solidFill>
              </a:rPr>
              <a:t>“O+ available — eRaktKosh, 14:20”</a:t>
            </a:r>
            <a:endParaRPr lang="en-US" sz="1000" dirty="0"/>
          </a:p>
        </p:txBody>
      </p:sp>
      <p:sp>
        <p:nvSpPr>
          <p:cNvPr id="26" name="out2"/>
          <p:cNvSpPr/>
          <p:nvPr/>
        </p:nvSpPr>
        <p:spPr>
          <a:xfrm>
            <a:off x="3931920" y="5010912"/>
            <a:ext cx="31089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059936" y="5102352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33"/>
                </a:solidFill>
              </a:rPr>
              <a:t>Stale or failed → static table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059936" y="5358384"/>
            <a:ext cx="2852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076"/>
                </a:solidFill>
              </a:rPr>
              <a:t>The referral still works. Degrades, never fails.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8183880" y="137160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28090"/>
                </a:solidFill>
              </a:rPr>
              <a:t>THE THREE RULES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83880" y="1737360"/>
            <a:ext cx="310896" cy="31089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183880" y="1737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641080" y="1700784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patient data leaves the platform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641080" y="2084832"/>
            <a:ext cx="3063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076"/>
                </a:solidFill>
              </a:rPr>
              <a:t>A query carries a district, a blood group, a facility. Never a name, an ABHA number, a complaint or a vital sign.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183880" y="3054096"/>
            <a:ext cx="310896" cy="31089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183880" y="3054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8641080" y="301752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signal informs; it never decides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8641080" y="3401568"/>
            <a:ext cx="3063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076"/>
                </a:solidFill>
              </a:rPr>
              <a:t>It cannot change the triage tier and cannot put a medicine on a prescription. Excluded from the learning loop and from FHIR exports.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183880" y="4370832"/>
            <a:ext cx="310896" cy="31089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183880" y="4370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8641080" y="433425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Cited and audited, always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8641080" y="4718304"/>
            <a:ext cx="3063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076"/>
                </a:solidFill>
              </a:rPr>
              <a:t>The clinician sees the source and the time it was read; every fetch lands in the append-only audit log. A number with no source is never shown.</a:t>
            </a:r>
            <a:endParaRPr lang="en-US" sz="1050" dirty="0"/>
          </a:p>
        </p:txBody>
      </p:sp>
      <p:sp>
        <p:nvSpPr>
          <p:cNvPr id="42" name="cost"/>
          <p:cNvSpPr/>
          <p:nvPr/>
        </p:nvSpPr>
        <p:spPr>
          <a:xfrm>
            <a:off x="8183880" y="5577840"/>
            <a:ext cx="3520440" cy="694944"/>
          </a:xfrm>
          <a:prstGeom prst="roundRect">
            <a:avLst>
              <a:gd name="adj" fmla="val 7895"/>
            </a:avLst>
          </a:prstGeom>
          <a:solidFill>
            <a:srgbClr val="EEF5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339328" y="565099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2A33"/>
                </a:solidFill>
              </a:rPr>
              <a:t>Cost: </a:t>
            </a:r>
            <a:pPr indent="0" marL="0">
              <a:buNone/>
            </a:pPr>
            <a:r>
              <a:rPr lang="en-US" sz="1050" dirty="0">
                <a:solidFill>
                  <a:srgbClr val="0E2A33"/>
                </a:solidFill>
              </a:rPr>
              <a:t>runs are scheduled per district, never per visit — spend scales with districts and refresh interval, not patient volume.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70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TinyFish integration — Rural Health Grid</dc:title>
  <dc:subject>PptxGenJS Presentation</dc:subject>
  <dc:creator>Team UnfilteredEngineers</dc:creator>
  <cp:lastModifiedBy>Team UnfilteredEngineers</cp:lastModifiedBy>
  <cp:revision>1</cp:revision>
  <dcterms:created xsi:type="dcterms:W3CDTF">2026-10-13T18:46:33Z</dcterms:created>
  <dcterms:modified xsi:type="dcterms:W3CDTF">2026-10-13T18:46:33Z</dcterms:modified>
</cp:coreProperties>
</file>