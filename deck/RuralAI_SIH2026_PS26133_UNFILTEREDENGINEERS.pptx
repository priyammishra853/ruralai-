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[0:20-1:20] 60 seconds. This is the slide that wins or loses the room.</a:t>
            </a:r>
          </a:p>
          <a:p/>
          <a:p>
            <a:r>
              <a:t>Open with the live badge, top right: "Everything I am about to describe is running at that URL."</a:t>
            </a:r>
          </a:p>
          <a:p/>
          <a:p>
            <a:r>
              <a:t>Proposed Solution - one line only: "One platform doing the six things the problem statement asks for: teleconsultation, queue management, triage, longitudinal records, referral and dashboards."</a:t>
            </a:r>
          </a:p>
          <a:p/>
          <a:p>
            <a:r>
              <a:t>How it addresses the problem - pick TWO, not four: "The case travels instead of the patient. And the record is keyed to Aadhaar, so history does not restart at every facility."</a:t>
            </a:r>
          </a:p>
          <a:p/>
          <a:p>
            <a:r>
              <a:t>Innovation - this is the differentiator, say it slowly:</a:t>
            </a:r>
          </a:p>
          <a:p>
            <a:r>
              <a:t>"Most teams wire a language model to a prompt. We did not. A deterministic rules engine sets the triage floor. A classifier trained on 244,938 labelled symptom vectors bounds what the model is allowed to say. The model can raise a risk tier. It can never lower one. And it can never name a medicine - that comes from a practitioner-signed formulary, enforced in code and covered by tests."</a:t>
            </a:r>
          </a:p>
          <a:p/>
          <a:p>
            <a:r>
              <a:t>Point at the four numbers: "59 routes, 17 tables, 135 tests passing, 7 languages. All verifiable at the link."</a:t>
            </a:r>
          </a:p>
          <a:p/>
          <a:p>
            <a:r>
              <a:t>If asked to cut for time: drop 'How it addresses the problem' entirely. Keep Innovation.</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[1:20-2:10] 50 seconds. Do not read this slide. Trace it with your hand.</a:t>
            </a:r>
          </a:p>
          <a:p/>
          <a:p>
            <a:r>
              <a:t>"Register, capture, digitise." - sweep left to right across the first three boxes.</a:t>
            </a:r>
          </a:p>
          <a:p/>
          <a:p>
            <a:r>
              <a:t>Stop on ASSESS: "Four things run here. The rule engine sets the floor. The classifier proposes ranked candidates. Vision and OCR can raise the tier. The language model writes the summary last, and only within those bounds."</a:t>
            </a:r>
          </a:p>
          <a:p/>
          <a:p>
            <a:r>
              <a:t>Then the formula: "Final tier is the maximum of rules, vision and model. That is the whole safety argument in one line."</a:t>
            </a:r>
          </a:p>
          <a:p/>
          <a:p>
            <a:r>
              <a:t>Fan your hand across the three tiers: "Low gets a complete plan on the spot. Medium requires a video consultation before any treatment. High leaves the platform entirely and goes to the nearest district hospital."</a:t>
            </a:r>
          </a:p>
          <a:p/>
          <a:p>
            <a:r>
              <a:t>Land on the navy bar: "A registered practitioner signs every decision, and it goes straight back to the health worker."</a:t>
            </a:r>
          </a:p>
          <a:p/>
          <a:p>
            <a:r>
              <a:t>Tech stack: one sentence. "Standard open stacks. Nothing exotic - which is why it is already deployed."</a:t>
            </a:r>
          </a:p>
          <a:p/>
          <a:p>
            <a:r>
              <a:t>Do not explain individual technologies unless asked.</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[2:10-3:00] 50 seconds.</a:t>
            </a:r>
          </a:p>
          <a:p/>
          <a:p>
            <a:r>
              <a:t>Feasibility - do not read all four. Say: "Technically it is already built and tested. Operationally, the operator is the health worker who is already there - no new cadre, no new hardware."</a:t>
            </a:r>
          </a:p>
          <a:p/>
          <a:p>
            <a:r>
              <a:t>Economic, say this one deliberately: "Video is peer-to-peer, referral routing is a local file, read-aloud runs on the device. The expensive parts of a telemedicine platform are structurally free here."</a:t>
            </a:r>
          </a:p>
          <a:p/>
          <a:p>
            <a:r>
              <a:t>Then turn to the risk column and OWN it - this is where you earn credibility:</a:t>
            </a:r>
          </a:p>
          <a:p/>
          <a:p>
            <a:r>
              <a:t>"I want to be direct about what is not finished."</a:t>
            </a:r>
          </a:p>
          <a:p/>
          <a:p>
            <a:r>
              <a:t>Clinical: "Our triage thresholds and formulary come from published guidance and have not been signed by a registered practitioner for this deployment. So medication is withheld from the health worker at every tier, and the system says so on its own front page. That is a launch gate, not a code task."</a:t>
            </a:r>
          </a:p>
          <a:p/>
          <a:p>
            <a:r>
              <a:t>Then: "Referral completion tracking, high-risk follow-up and ABDM exchange are scheduled, not built. The schema already holds the rows they need."</a:t>
            </a:r>
          </a:p>
          <a:p/>
          <a:p>
            <a:r>
              <a:t>Judges trust the team that names its own gaps before they do.</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[3:00-3:50] 50 seconds.</a:t>
            </a:r>
          </a:p>
          <a:p/>
          <a:p>
            <a:r>
              <a:t>Top half, trace the two rows: "Today: symptom, hours of travel, a queue with no triage, a consult where history restarts, and a paper prescription that is lost before the next visit."</a:t>
            </a:r>
          </a:p>
          <a:p/>
          <a:p>
            <a:r>
              <a:t>"With RuralAI: the same clinical authority, no journey. Travel happens only for the cases that genuinely need a hospital - and the tier decides that, not the queue."</a:t>
            </a:r>
          </a:p>
          <a:p/>
          <a:p>
            <a:r>
              <a:t>Then the four numbers, and cite each source out loud - this is where you separate yourself:</a:t>
            </a:r>
          </a:p>
          <a:p>
            <a:r>
              <a:t>"79.9 percent specialist shortfall at rural community health centres - Ministry of Health, 2022-23."</a:t>
            </a:r>
          </a:p>
          <a:p>
            <a:r>
              <a:t>"54.2 percent of Maharashtra women aged 15 to 49 are anaemic - NFHS-5."</a:t>
            </a:r>
          </a:p>
          <a:p>
            <a:r>
              <a:t>"Around a third of referred patients never complete the referral."</a:t>
            </a:r>
          </a:p>
          <a:p>
            <a:r>
              <a:t>"And eSanjeevani has done 43 crore consultations - we plug into that, we do not compete with it."</a:t>
            </a:r>
          </a:p>
          <a:p/>
          <a:p>
            <a:r>
              <a:t>Benefits: name the three buckets, do not read the contents. "Social, economic, governance."</a:t>
            </a:r>
          </a:p>
          <a:p/>
          <a:p>
            <a:r>
              <a:t>If short on time, cut the benefits row entirely and stay on the numbers.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[3:50-4:30] 40 seconds, then stop and invite questions.</a:t>
            </a:r>
          </a:p>
          <a:p/>
          <a:p>
            <a:r>
              <a:t>"Every number on the previous slide is sourced, and the sources are here - Ministry of Health, the 75th round of the National Sample Survey, the NFHS-5 Maharashtra fact sheet, the National Health Authority, WHO IMNCI, and the NMC telemedicine guidelines."</a:t>
            </a:r>
          </a:p>
          <a:p/>
          <a:p>
            <a:r>
              <a:t>Then the positioning box - say this clearly, it directly answers the problem statement's own wording:</a:t>
            </a:r>
          </a:p>
          <a:p>
            <a:r>
              <a:t>"The problem statement says strengthen, not replace. eSanjeevani carries the consultation. We prepare the case before it and record the decision after it. ABDM holds the record - ours is structured for it."</a:t>
            </a:r>
          </a:p>
          <a:p/>
          <a:p>
            <a:r>
              <a:t>Then, if they have not already asked, pre-empt the obvious question:</a:t>
            </a:r>
          </a:p>
          <a:p>
            <a:r>
              <a:t>"You may be wondering why this is not just a symptom checker. Symptom checkers speak to patients. This speaks to a trained health worker, and it refuses to name a medicine."</a:t>
            </a:r>
          </a:p>
          <a:p/>
          <a:p>
            <a:r>
              <a:t>Close on the resources box: "Live prototype, source code, a twenty-section architecture document, and the demo video. All linked here."</a:t>
            </a:r>
          </a:p>
          <a:p/>
          <a:p>
            <a:r>
              <a:t>Then stop talking. Do not fill silence.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20 seconds.</a:t>
            </a:r>
          </a:p>
          <a:p>
            <a:r>
              <a:t>"Problem Statement 26133, for the Government of Maharashtra. Accessibility and quality of public healthcare in rural and underserved areas. We are team UNFILTERED ENGINEERS."</a:t>
            </a:r>
          </a:p>
          <a:p>
            <a:r>
              <a:t>Then, immediately and without pausing:</a:t>
            </a:r>
          </a:p>
          <a:p>
            <a:r>
              <a:t>"Before I describe anything, this is not a concept. It is deployed and you can open it right now at ruralai-psi.vercel.app."</a:t>
            </a:r>
          </a:p>
          <a:p>
            <a:r>
              <a:t>Do not read the rest of the title slide aloud. Move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1500" b="1" dirty="0">
                <a:latin typeface="Calibri" panose="020B0604020202020204" pitchFamily="34" charset="0"/>
                <a:cs typeface="Arial" panose="020B0604020202020204" pitchFamily="34" charset="0"/>
              </a:rPr>
              <a:t>Problem Statement ID – 26133</a:t>
            </a:r>
          </a:p>
          <a:p>
            <a:pPr marL="285750" indent="-285750" algn="just">
              <a:lnSpc>
                <a:spcPct val="200000"/>
              </a:lnSpc>
              <a:buFont typeface="Arial" panose="020B0604020202020204" pitchFamily="34" charset="0"/>
              <a:buChar char="•"/>
            </a:pPr>
            <a:r>
              <a:rPr lang="en-US" sz="1500" b="1" dirty="0">
                <a:latin typeface="Calibri" panose="020B0604020202020204" pitchFamily="34" charset="0"/>
                <a:cs typeface="Arial" panose="020B0604020202020204" pitchFamily="34" charset="0"/>
              </a:rPr>
              <a:t>Problem Statement Title – Accessibility and quality of public healthcare services, particularly in rural and underserved areas</a:t>
            </a:r>
          </a:p>
          <a:p>
            <a:pPr marL="285750" indent="-285750" algn="just">
              <a:lnSpc>
                <a:spcPct val="200000"/>
              </a:lnSpc>
              <a:buFont typeface="Arial" panose="020B0604020202020204" pitchFamily="34" charset="0"/>
              <a:buChar char="•"/>
            </a:pPr>
            <a:r>
              <a:rPr lang="en-US" sz="1500" b="1" dirty="0">
                <a:latin typeface="Calibri" panose="020B0604020202020204" pitchFamily="34" charset="0"/>
                <a:cs typeface="Arial" panose="020B0604020202020204" pitchFamily="34" charset="0"/>
              </a:rPr>
              <a:t>Theme – MedTech / BioTech / HealthTech</a:t>
            </a:r>
          </a:p>
          <a:p>
            <a:pPr marL="285750" indent="-285750" algn="just">
              <a:lnSpc>
                <a:spcPct val="200000"/>
              </a:lnSpc>
              <a:buFont typeface="Arial" panose="020B0604020202020204" pitchFamily="34" charset="0"/>
              <a:buChar char="•"/>
            </a:pPr>
            <a:r>
              <a:rPr lang="en-US" sz="1500" b="1" dirty="0">
                <a:latin typeface="Calibri" panose="020B0604020202020204" pitchFamily="34" charset="0"/>
                <a:cs typeface="Arial" panose="020B0604020202020204" pitchFamily="34" charset="0"/>
              </a:rPr>
              <a:t>PS Category – Software</a:t>
            </a:r>
          </a:p>
          <a:p>
            <a:pPr marL="285750" indent="-285750" algn="just">
              <a:lnSpc>
                <a:spcPct val="200000"/>
              </a:lnSpc>
              <a:buFont typeface="Arial" panose="020B0604020202020204" pitchFamily="34" charset="0"/>
              <a:buChar char="•"/>
            </a:pPr>
            <a:r>
              <a:rPr lang="en-US" sz="1500" b="1" dirty="0">
                <a:latin typeface="Calibri" panose="020B0604020202020204" pitchFamily="34" charset="0"/>
                <a:cs typeface="Arial" panose="020B0604020202020204" pitchFamily="34" charset="0"/>
              </a:rPr>
              <a:t>Team ID – [TEAM ID]</a:t>
            </a:r>
          </a:p>
          <a:p>
            <a:pPr marL="285750" indent="-285750" algn="just">
              <a:lnSpc>
                <a:spcPct val="200000"/>
              </a:lnSpc>
              <a:buFont typeface="Arial" panose="020B0604020202020204" pitchFamily="34" charset="0"/>
              <a:buChar char="•"/>
            </a:pPr>
            <a:r>
              <a:rPr lang="en-US" sz="1500" b="1" dirty="0">
                <a:latin typeface="Calibri" panose="020B0604020202020204" pitchFamily="34" charset="0"/>
                <a:cs typeface="Arial" panose="020B0604020202020204" pitchFamily="34" charset="0"/>
              </a:rPr>
              <a:t>Team Name – UNFILTEREDENGINEERS</a:t>
            </a:r>
            <a:endParaRPr lang="en-IN" sz="24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TextBox 37"/>
          <p:cNvSpPr txBox="1"/>
          <p:nvPr/>
        </p:nvSpPr>
        <p:spPr>
          <a:xfrm>
            <a:off x="566928" y="5532120"/>
            <a:ext cx="7680960" cy="457200"/>
          </a:xfrm>
          <a:prstGeom prst="rect">
            <a:avLst/>
          </a:prstGeom>
          <a:noFill/>
        </p:spPr>
        <p:txBody>
          <a:bodyPr wrap="square" lIns="0" rIns="0" tIns="0" bIns="0" anchor="t">
            <a:spAutoFit/>
          </a:bodyPr>
          <a:lstStyle/>
          <a:p>
            <a:pPr algn="l">
              <a:spcBef>
                <a:spcPts val="0"/>
              </a:spcBef>
              <a:spcAft>
                <a:spcPts val="0"/>
              </a:spcAft>
            </a:pPr>
            <a:r>
              <a:rPr sz="1200" b="1" i="0">
                <a:solidFill>
                  <a:srgbClr val="0B3C78"/>
                </a:solidFill>
                <a:latin typeface="Calibri"/>
              </a:rPr>
              <a:t>Working prototype, live now:  </a:t>
            </a:r>
            <a:r>
              <a:rPr sz="1200" b="1" i="0">
                <a:solidFill>
                  <a:srgbClr val="F39211"/>
                </a:solidFill>
                <a:latin typeface="Calibri"/>
              </a:rPr>
              <a:t>ruralai-psi.vercel.app</a:t>
            </a:r>
          </a:p>
          <a:p>
            <a:pPr algn="l">
              <a:spcBef>
                <a:spcPts val="100"/>
              </a:spcBef>
              <a:spcAft>
                <a:spcPts val="0"/>
              </a:spcAft>
            </a:pPr>
            <a:r>
              <a:rPr sz="1000" b="0" i="0">
                <a:solidFill>
                  <a:srgbClr val="52647C"/>
                </a:solidFill>
                <a:latin typeface="Calibri"/>
              </a:rPr>
              <a:t>Government of Maharashtra  ·  Maharashtra State Innovation Society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00" b="1" i="0">
                <a:solidFill>
                  <a:srgbClr val="FFFFFF"/>
                </a:solidFill>
                <a:latin typeface="Calibri"/>
              </a:rPr>
              <a:t>UNFILTERED
ENGINEERS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29184" y="1188720"/>
            <a:ext cx="5669280" cy="502920"/>
          </a:xfrm>
          <a:prstGeom prst="rect">
            <a:avLst/>
          </a:prstGeom>
          <a:noFill/>
        </p:spPr>
        <p:txBody>
          <a:bodyPr wrap="square" lIns="0" rIns="0" tIns="0" bIns="0" anchor="t">
            <a:spAutoFit/>
          </a:bodyPr>
          <a:lstStyle/>
          <a:p>
            <a:pPr algn="l">
              <a:spcBef>
                <a:spcPts val="0"/>
              </a:spcBef>
              <a:spcAft>
                <a:spcPts val="0"/>
              </a:spcAft>
            </a:pPr>
            <a:r>
              <a:rPr sz="3000" b="1" i="0">
                <a:solidFill>
                  <a:srgbClr val="0B3C78"/>
                </a:solidFill>
                <a:latin typeface="Calibri"/>
              </a:rPr>
              <a:t>RuralAI</a:t>
            </a:r>
            <a:r>
              <a:rPr sz="1300" b="0" i="0">
                <a:solidFill>
                  <a:srgbClr val="52647C"/>
                </a:solidFill>
                <a:latin typeface="Calibri"/>
              </a:rPr>
              <a:t>   Care access without the journey</a:t>
            </a:r>
          </a:p>
        </p:txBody>
      </p:sp>
      <p:sp>
        <p:nvSpPr>
          <p:cNvPr id="15363" name="Rounded Rectangle 15362"/>
          <p:cNvSpPr/>
          <p:nvPr/>
        </p:nvSpPr>
        <p:spPr>
          <a:xfrm>
            <a:off x="8732520" y="1170432"/>
            <a:ext cx="3154680" cy="475488"/>
          </a:xfrm>
          <a:prstGeom prst="roundRect">
            <a:avLst>
              <a:gd name="adj" fmla="val 16000"/>
            </a:avLst>
          </a:prstGeom>
          <a:solidFill>
            <a:srgbClr val="DEF7E6"/>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a:lstStyle/>
          <a:p>
            <a:pPr algn="l">
              <a:spcBef>
                <a:spcPts val="0"/>
              </a:spcBef>
              <a:spcAft>
                <a:spcPts val="0"/>
              </a:spcAft>
            </a:pPr>
            <a:r>
              <a:rPr sz="900" b="1" i="0">
                <a:solidFill>
                  <a:srgbClr val="15803D"/>
                </a:solidFill>
                <a:latin typeface="Calibri"/>
              </a:rPr>
              <a:t>DEPLOYED AND RUNNING TODAY</a:t>
            </a:r>
          </a:p>
          <a:p>
            <a:pPr algn="l">
              <a:spcBef>
                <a:spcPts val="0"/>
              </a:spcBef>
              <a:spcAft>
                <a:spcPts val="0"/>
              </a:spcAft>
            </a:pPr>
            <a:r>
              <a:rPr sz="1050" b="1" i="0">
                <a:solidFill>
                  <a:srgbClr val="0B3C78"/>
                </a:solidFill>
                <a:latin typeface="Calibri"/>
              </a:rPr>
              <a:t>ruralai-psi.vercel.app</a:t>
            </a:r>
          </a:p>
        </p:txBody>
      </p:sp>
      <p:sp>
        <p:nvSpPr>
          <p:cNvPr id="15364" name="TextBox 15363"/>
          <p:cNvSpPr txBox="1"/>
          <p:nvPr/>
        </p:nvSpPr>
        <p:spPr>
          <a:xfrm>
            <a:off x="329184" y="1810512"/>
            <a:ext cx="5532120" cy="237744"/>
          </a:xfrm>
          <a:prstGeom prst="rect">
            <a:avLst/>
          </a:prstGeom>
          <a:noFill/>
        </p:spPr>
        <p:txBody>
          <a:bodyPr wrap="square" lIns="0" rIns="0" tIns="0" bIns="0" anchor="t">
            <a:spAutoFit/>
          </a:bodyPr>
          <a:lstStyle/>
          <a:p>
            <a:pPr algn="l">
              <a:spcBef>
                <a:spcPts val="0"/>
              </a:spcBef>
              <a:spcAft>
                <a:spcPts val="0"/>
              </a:spcAft>
            </a:pPr>
            <a:r>
              <a:rPr sz="1150" b="1" i="0">
                <a:solidFill>
                  <a:srgbClr val="0B3C78"/>
                </a:solidFill>
                <a:latin typeface="Calibri"/>
              </a:rPr>
              <a:t>Proposed Solution</a:t>
            </a:r>
          </a:p>
        </p:txBody>
      </p:sp>
      <p:sp>
        <p:nvSpPr>
          <p:cNvPr id="15365" name="TextBox 15364"/>
          <p:cNvSpPr txBox="1"/>
          <p:nvPr/>
        </p:nvSpPr>
        <p:spPr>
          <a:xfrm>
            <a:off x="329184" y="2084831"/>
            <a:ext cx="5532120" cy="393192"/>
          </a:xfrm>
          <a:prstGeom prst="rect">
            <a:avLst/>
          </a:prstGeom>
          <a:noFill/>
        </p:spPr>
        <p:txBody>
          <a:bodyPr wrap="square" lIns="0" rIns="0" tIns="0" bIns="0" anchor="t">
            <a:spAutoFit/>
          </a:bodyPr>
          <a:lstStyle/>
          <a:p>
            <a:pPr algn="l">
              <a:lnSpc>
                <a:spcPct val="95000"/>
              </a:lnSpc>
              <a:spcBef>
                <a:spcPts val="0"/>
              </a:spcBef>
              <a:spcAft>
                <a:spcPts val="0"/>
              </a:spcAft>
            </a:pPr>
            <a:r>
              <a:rPr sz="960" b="1" i="0">
                <a:solidFill>
                  <a:srgbClr val="0F2037"/>
                </a:solidFill>
                <a:latin typeface="Calibri"/>
              </a:rPr>
              <a:t>One platform, six services:  </a:t>
            </a:r>
            <a:r>
              <a:rPr sz="960" b="0" i="0">
                <a:solidFill>
                  <a:srgbClr val="52647C"/>
                </a:solidFill>
                <a:latin typeface="Calibri"/>
              </a:rPr>
              <a:t>assisted teleconsultation, appointment and queue management, digital triage, longitudinal records, emergency referral and facility dashboards.</a:t>
            </a:r>
          </a:p>
        </p:txBody>
      </p:sp>
      <p:sp>
        <p:nvSpPr>
          <p:cNvPr id="15366" name="TextBox 15365"/>
          <p:cNvSpPr txBox="1"/>
          <p:nvPr/>
        </p:nvSpPr>
        <p:spPr>
          <a:xfrm>
            <a:off x="329184" y="2528315"/>
            <a:ext cx="5532120" cy="196596"/>
          </a:xfrm>
          <a:prstGeom prst="rect">
            <a:avLst/>
          </a:prstGeom>
          <a:noFill/>
        </p:spPr>
        <p:txBody>
          <a:bodyPr wrap="square" lIns="0" rIns="0" tIns="0" bIns="0" anchor="t">
            <a:spAutoFit/>
          </a:bodyPr>
          <a:lstStyle/>
          <a:p>
            <a:pPr algn="l">
              <a:lnSpc>
                <a:spcPct val="95000"/>
              </a:lnSpc>
              <a:spcBef>
                <a:spcPts val="0"/>
              </a:spcBef>
              <a:spcAft>
                <a:spcPts val="0"/>
              </a:spcAft>
            </a:pPr>
            <a:r>
              <a:rPr sz="960" b="1" i="0">
                <a:solidFill>
                  <a:srgbClr val="0F2037"/>
                </a:solidFill>
                <a:latin typeface="Calibri"/>
              </a:rPr>
              <a:t>The health worker is the operator:  </a:t>
            </a:r>
            <a:r>
              <a:rPr sz="960" b="0" i="0">
                <a:solidFill>
                  <a:srgbClr val="52647C"/>
                </a:solidFill>
                <a:latin typeface="Calibri"/>
              </a:rPr>
              <a:t>the patient never touches it; a registered doctor makes every clinical decision.</a:t>
            </a:r>
          </a:p>
        </p:txBody>
      </p:sp>
      <p:sp>
        <p:nvSpPr>
          <p:cNvPr id="15367" name="TextBox 15366"/>
          <p:cNvSpPr txBox="1"/>
          <p:nvPr/>
        </p:nvSpPr>
        <p:spPr>
          <a:xfrm>
            <a:off x="329184" y="2775203"/>
            <a:ext cx="5532120" cy="196596"/>
          </a:xfrm>
          <a:prstGeom prst="rect">
            <a:avLst/>
          </a:prstGeom>
          <a:noFill/>
        </p:spPr>
        <p:txBody>
          <a:bodyPr wrap="square" lIns="0" rIns="0" tIns="0" bIns="0" anchor="t">
            <a:spAutoFit/>
          </a:bodyPr>
          <a:lstStyle/>
          <a:p>
            <a:pPr algn="l">
              <a:lnSpc>
                <a:spcPct val="95000"/>
              </a:lnSpc>
              <a:spcBef>
                <a:spcPts val="0"/>
              </a:spcBef>
              <a:spcAft>
                <a:spcPts val="0"/>
              </a:spcAft>
            </a:pPr>
            <a:r>
              <a:rPr sz="960" b="1" i="0">
                <a:solidFill>
                  <a:srgbClr val="0F2037"/>
                </a:solidFill>
                <a:latin typeface="Calibri"/>
              </a:rPr>
              <a:t>Runs on what a sub-centre already has:  </a:t>
            </a:r>
            <a:r>
              <a:rPr sz="960" b="0" i="0">
                <a:solidFill>
                  <a:srgbClr val="52647C"/>
                </a:solidFill>
                <a:latin typeface="Calibri"/>
              </a:rPr>
              <a:t>a browser and a phone camera. No new hardware.</a:t>
            </a:r>
          </a:p>
        </p:txBody>
      </p:sp>
      <p:sp>
        <p:nvSpPr>
          <p:cNvPr id="15368" name="TextBox 15367"/>
          <p:cNvSpPr txBox="1"/>
          <p:nvPr/>
        </p:nvSpPr>
        <p:spPr>
          <a:xfrm>
            <a:off x="329184" y="3113532"/>
            <a:ext cx="5532120" cy="237744"/>
          </a:xfrm>
          <a:prstGeom prst="rect">
            <a:avLst/>
          </a:prstGeom>
          <a:noFill/>
        </p:spPr>
        <p:txBody>
          <a:bodyPr wrap="square" lIns="0" rIns="0" tIns="0" bIns="0" anchor="t">
            <a:spAutoFit/>
          </a:bodyPr>
          <a:lstStyle/>
          <a:p>
            <a:pPr algn="l">
              <a:spcBef>
                <a:spcPts val="0"/>
              </a:spcBef>
              <a:spcAft>
                <a:spcPts val="0"/>
              </a:spcAft>
            </a:pPr>
            <a:r>
              <a:rPr sz="1150" b="1" i="0">
                <a:solidFill>
                  <a:srgbClr val="0B3C78"/>
                </a:solidFill>
                <a:latin typeface="Calibri"/>
              </a:rPr>
              <a:t>How it addresses the problem</a:t>
            </a:r>
          </a:p>
        </p:txBody>
      </p:sp>
      <p:sp>
        <p:nvSpPr>
          <p:cNvPr id="15369" name="TextBox 15368"/>
          <p:cNvSpPr txBox="1"/>
          <p:nvPr/>
        </p:nvSpPr>
        <p:spPr>
          <a:xfrm>
            <a:off x="329184" y="3387851"/>
            <a:ext cx="5532120" cy="196596"/>
          </a:xfrm>
          <a:prstGeom prst="rect">
            <a:avLst/>
          </a:prstGeom>
          <a:noFill/>
        </p:spPr>
        <p:txBody>
          <a:bodyPr wrap="square" lIns="0" rIns="0" tIns="0" bIns="0" anchor="t">
            <a:spAutoFit/>
          </a:bodyPr>
          <a:lstStyle/>
          <a:p>
            <a:pPr algn="l">
              <a:lnSpc>
                <a:spcPct val="95000"/>
              </a:lnSpc>
              <a:spcBef>
                <a:spcPts val="0"/>
              </a:spcBef>
              <a:spcAft>
                <a:spcPts val="0"/>
              </a:spcAft>
            </a:pPr>
            <a:r>
              <a:rPr sz="960" b="1" i="0">
                <a:solidFill>
                  <a:srgbClr val="0F2037"/>
                </a:solidFill>
                <a:latin typeface="Calibri"/>
              </a:rPr>
              <a:t>Travel and waiting:  </a:t>
            </a:r>
            <a:r>
              <a:rPr sz="960" b="0" i="0">
                <a:solidFill>
                  <a:srgbClr val="52647C"/>
                </a:solidFill>
                <a:latin typeface="Calibri"/>
              </a:rPr>
              <a:t>the case travels, not the patient — video or same-day batch review.</a:t>
            </a:r>
          </a:p>
        </p:txBody>
      </p:sp>
      <p:sp>
        <p:nvSpPr>
          <p:cNvPr id="15370" name="TextBox 15369"/>
          <p:cNvSpPr txBox="1"/>
          <p:nvPr/>
        </p:nvSpPr>
        <p:spPr>
          <a:xfrm>
            <a:off x="329184" y="3634739"/>
            <a:ext cx="5532120" cy="196596"/>
          </a:xfrm>
          <a:prstGeom prst="rect">
            <a:avLst/>
          </a:prstGeom>
          <a:noFill/>
        </p:spPr>
        <p:txBody>
          <a:bodyPr wrap="square" lIns="0" rIns="0" tIns="0" bIns="0" anchor="t">
            <a:spAutoFit/>
          </a:bodyPr>
          <a:lstStyle/>
          <a:p>
            <a:pPr algn="l">
              <a:lnSpc>
                <a:spcPct val="95000"/>
              </a:lnSpc>
              <a:spcBef>
                <a:spcPts val="0"/>
              </a:spcBef>
              <a:spcAft>
                <a:spcPts val="0"/>
              </a:spcAft>
            </a:pPr>
            <a:r>
              <a:rPr sz="960" b="1" i="0">
                <a:solidFill>
                  <a:srgbClr val="0F2037"/>
                </a:solidFill>
                <a:latin typeface="Calibri"/>
              </a:rPr>
              <a:t>Fragmented records:  </a:t>
            </a:r>
            <a:r>
              <a:rPr sz="960" b="0" i="0">
                <a:solidFill>
                  <a:srgbClr val="52647C"/>
                </a:solidFill>
                <a:latin typeface="Calibri"/>
              </a:rPr>
              <a:t>one record keyed to Aadhaar; paper scripts and lab reports digitised by camera.</a:t>
            </a:r>
          </a:p>
        </p:txBody>
      </p:sp>
      <p:sp>
        <p:nvSpPr>
          <p:cNvPr id="15371" name="TextBox 15370"/>
          <p:cNvSpPr txBox="1"/>
          <p:nvPr/>
        </p:nvSpPr>
        <p:spPr>
          <a:xfrm>
            <a:off x="329184" y="3881627"/>
            <a:ext cx="5532120" cy="196596"/>
          </a:xfrm>
          <a:prstGeom prst="rect">
            <a:avLst/>
          </a:prstGeom>
          <a:noFill/>
        </p:spPr>
        <p:txBody>
          <a:bodyPr wrap="square" lIns="0" rIns="0" tIns="0" bIns="0" anchor="t">
            <a:spAutoFit/>
          </a:bodyPr>
          <a:lstStyle/>
          <a:p>
            <a:pPr algn="l">
              <a:lnSpc>
                <a:spcPct val="95000"/>
              </a:lnSpc>
              <a:spcBef>
                <a:spcPts val="0"/>
              </a:spcBef>
              <a:spcAft>
                <a:spcPts val="0"/>
              </a:spcAft>
            </a:pPr>
            <a:r>
              <a:rPr sz="960" b="1" i="0">
                <a:solidFill>
                  <a:srgbClr val="0F2037"/>
                </a:solidFill>
                <a:latin typeface="Calibri"/>
              </a:rPr>
              <a:t>Language and literacy:  </a:t>
            </a:r>
            <a:r>
              <a:rPr sz="960" b="0" i="0">
                <a:solidFill>
                  <a:srgbClr val="52647C"/>
                </a:solidFill>
                <a:latin typeface="Calibri"/>
              </a:rPr>
              <a:t>symptoms spoken in 7 Indian languages; findings read back aloud.</a:t>
            </a:r>
          </a:p>
        </p:txBody>
      </p:sp>
      <p:sp>
        <p:nvSpPr>
          <p:cNvPr id="15372" name="TextBox 15371"/>
          <p:cNvSpPr txBox="1"/>
          <p:nvPr/>
        </p:nvSpPr>
        <p:spPr>
          <a:xfrm>
            <a:off x="329184" y="4128515"/>
            <a:ext cx="5532120" cy="196596"/>
          </a:xfrm>
          <a:prstGeom prst="rect">
            <a:avLst/>
          </a:prstGeom>
          <a:noFill/>
        </p:spPr>
        <p:txBody>
          <a:bodyPr wrap="square" lIns="0" rIns="0" tIns="0" bIns="0" anchor="t">
            <a:spAutoFit/>
          </a:bodyPr>
          <a:lstStyle/>
          <a:p>
            <a:pPr algn="l">
              <a:lnSpc>
                <a:spcPct val="95000"/>
              </a:lnSpc>
              <a:spcBef>
                <a:spcPts val="0"/>
              </a:spcBef>
              <a:spcAft>
                <a:spcPts val="0"/>
              </a:spcAft>
            </a:pPr>
            <a:r>
              <a:rPr sz="960" b="1" i="0">
                <a:solidFill>
                  <a:srgbClr val="0F2037"/>
                </a:solidFill>
                <a:latin typeface="Calibri"/>
              </a:rPr>
              <a:t>Delayed referral:  </a:t>
            </a:r>
            <a:r>
              <a:rPr sz="960" b="0" i="0">
                <a:solidFill>
                  <a:srgbClr val="52647C"/>
                </a:solidFill>
                <a:latin typeface="Calibri"/>
              </a:rPr>
              <a:t>red-flag rules escalate to the nearest district hospital automatically.</a:t>
            </a:r>
          </a:p>
        </p:txBody>
      </p:sp>
      <p:sp>
        <p:nvSpPr>
          <p:cNvPr id="15373" name="TextBox 15372"/>
          <p:cNvSpPr txBox="1"/>
          <p:nvPr/>
        </p:nvSpPr>
        <p:spPr>
          <a:xfrm>
            <a:off x="329184" y="4466843"/>
            <a:ext cx="5532120" cy="237744"/>
          </a:xfrm>
          <a:prstGeom prst="rect">
            <a:avLst/>
          </a:prstGeom>
          <a:noFill/>
        </p:spPr>
        <p:txBody>
          <a:bodyPr wrap="square" lIns="0" rIns="0" tIns="0" bIns="0" anchor="t">
            <a:spAutoFit/>
          </a:bodyPr>
          <a:lstStyle/>
          <a:p>
            <a:pPr algn="l">
              <a:spcBef>
                <a:spcPts val="0"/>
              </a:spcBef>
              <a:spcAft>
                <a:spcPts val="0"/>
              </a:spcAft>
            </a:pPr>
            <a:r>
              <a:rPr sz="1150" b="1" i="0">
                <a:solidFill>
                  <a:srgbClr val="0B3C78"/>
                </a:solidFill>
                <a:latin typeface="Calibri"/>
              </a:rPr>
              <a:t>Innovation and uniqueness</a:t>
            </a:r>
          </a:p>
        </p:txBody>
      </p:sp>
      <p:sp>
        <p:nvSpPr>
          <p:cNvPr id="15374" name="TextBox 15373"/>
          <p:cNvSpPr txBox="1"/>
          <p:nvPr/>
        </p:nvSpPr>
        <p:spPr>
          <a:xfrm>
            <a:off x="329184" y="4741163"/>
            <a:ext cx="5532120" cy="393192"/>
          </a:xfrm>
          <a:prstGeom prst="rect">
            <a:avLst/>
          </a:prstGeom>
          <a:noFill/>
        </p:spPr>
        <p:txBody>
          <a:bodyPr wrap="square" lIns="0" rIns="0" tIns="0" bIns="0" anchor="t">
            <a:spAutoFit/>
          </a:bodyPr>
          <a:lstStyle/>
          <a:p>
            <a:pPr algn="l">
              <a:lnSpc>
                <a:spcPct val="95000"/>
              </a:lnSpc>
              <a:spcBef>
                <a:spcPts val="0"/>
              </a:spcBef>
              <a:spcAft>
                <a:spcPts val="0"/>
              </a:spcAft>
            </a:pPr>
            <a:r>
              <a:rPr sz="960" b="1" i="0">
                <a:solidFill>
                  <a:srgbClr val="0F2037"/>
                </a:solidFill>
                <a:latin typeface="Calibri"/>
              </a:rPr>
              <a:t>Rules decide, models advise:  </a:t>
            </a:r>
            <a:r>
              <a:rPr sz="960" b="0" i="0">
                <a:solidFill>
                  <a:srgbClr val="52647C"/>
                </a:solidFill>
                <a:latin typeface="Calibri"/>
              </a:rPr>
              <a:t>a deterministic engine sets the triage floor; the model may raise a tier and can never lower one.</a:t>
            </a:r>
          </a:p>
        </p:txBody>
      </p:sp>
      <p:sp>
        <p:nvSpPr>
          <p:cNvPr id="15375" name="TextBox 15374"/>
          <p:cNvSpPr txBox="1"/>
          <p:nvPr/>
        </p:nvSpPr>
        <p:spPr>
          <a:xfrm>
            <a:off x="329184" y="5184647"/>
            <a:ext cx="5532120" cy="196596"/>
          </a:xfrm>
          <a:prstGeom prst="rect">
            <a:avLst/>
          </a:prstGeom>
          <a:noFill/>
        </p:spPr>
        <p:txBody>
          <a:bodyPr wrap="square" lIns="0" rIns="0" tIns="0" bIns="0" anchor="t">
            <a:spAutoFit/>
          </a:bodyPr>
          <a:lstStyle/>
          <a:p>
            <a:pPr algn="l">
              <a:lnSpc>
                <a:spcPct val="95000"/>
              </a:lnSpc>
              <a:spcBef>
                <a:spcPts val="0"/>
              </a:spcBef>
              <a:spcAft>
                <a:spcPts val="0"/>
              </a:spcAft>
            </a:pPr>
            <a:r>
              <a:rPr sz="960" b="1" i="0">
                <a:solidFill>
                  <a:srgbClr val="0F2037"/>
                </a:solidFill>
                <a:latin typeface="Calibri"/>
              </a:rPr>
              <a:t>Bounded, not prompted:  </a:t>
            </a:r>
            <a:r>
              <a:rPr sz="960" b="0" i="0">
                <a:solidFill>
                  <a:srgbClr val="52647C"/>
                </a:solidFill>
                <a:latin typeface="Calibri"/>
              </a:rPr>
              <a:t>a classifier trained on 244,938 labelled symptom vectors constrains what the LLM may say.</a:t>
            </a:r>
          </a:p>
        </p:txBody>
      </p:sp>
      <p:sp>
        <p:nvSpPr>
          <p:cNvPr id="15376" name="TextBox 15375"/>
          <p:cNvSpPr txBox="1"/>
          <p:nvPr/>
        </p:nvSpPr>
        <p:spPr>
          <a:xfrm>
            <a:off x="329184" y="5431535"/>
            <a:ext cx="5532120" cy="196596"/>
          </a:xfrm>
          <a:prstGeom prst="rect">
            <a:avLst/>
          </a:prstGeom>
          <a:noFill/>
        </p:spPr>
        <p:txBody>
          <a:bodyPr wrap="square" lIns="0" rIns="0" tIns="0" bIns="0" anchor="t">
            <a:spAutoFit/>
          </a:bodyPr>
          <a:lstStyle/>
          <a:p>
            <a:pPr algn="l">
              <a:lnSpc>
                <a:spcPct val="95000"/>
              </a:lnSpc>
              <a:spcBef>
                <a:spcPts val="0"/>
              </a:spcBef>
              <a:spcAft>
                <a:spcPts val="0"/>
              </a:spcAft>
            </a:pPr>
            <a:r>
              <a:rPr sz="960" b="1" i="0">
                <a:solidFill>
                  <a:srgbClr val="0F2037"/>
                </a:solidFill>
                <a:latin typeface="Calibri"/>
              </a:rPr>
              <a:t>Medication never model-authored:  </a:t>
            </a:r>
            <a:r>
              <a:rPr sz="960" b="0" i="0">
                <a:solidFill>
                  <a:srgbClr val="52647C"/>
                </a:solidFill>
                <a:latin typeface="Calibri"/>
              </a:rPr>
              <a:t>only from a practitioner-signed formulary. Enforced in code, covered by tests.</a:t>
            </a:r>
          </a:p>
        </p:txBody>
      </p:sp>
      <p:sp>
        <p:nvSpPr>
          <p:cNvPr id="15377" name="Rounded Rectangle 15376"/>
          <p:cNvSpPr/>
          <p:nvPr/>
        </p:nvSpPr>
        <p:spPr>
          <a:xfrm>
            <a:off x="6144768" y="1810512"/>
            <a:ext cx="5742432" cy="118872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78" name="TextBox 15377"/>
          <p:cNvSpPr txBox="1"/>
          <p:nvPr/>
        </p:nvSpPr>
        <p:spPr>
          <a:xfrm>
            <a:off x="6327648" y="1920240"/>
            <a:ext cx="5394960" cy="237744"/>
          </a:xfrm>
          <a:prstGeom prst="rect">
            <a:avLst/>
          </a:prstGeom>
          <a:noFill/>
        </p:spPr>
        <p:txBody>
          <a:bodyPr wrap="square" lIns="0" rIns="0" tIns="0" bIns="0" anchor="t">
            <a:spAutoFit/>
          </a:bodyPr>
          <a:lstStyle/>
          <a:p>
            <a:pPr algn="l">
              <a:spcBef>
                <a:spcPts val="0"/>
              </a:spcBef>
              <a:spcAft>
                <a:spcPts val="0"/>
              </a:spcAft>
            </a:pPr>
            <a:r>
              <a:rPr sz="1100" b="1" i="0">
                <a:solidFill>
                  <a:srgbClr val="0B3C78"/>
                </a:solidFill>
                <a:latin typeface="Calibri"/>
              </a:rPr>
              <a:t>Already built — verifiable at the link</a:t>
            </a:r>
          </a:p>
        </p:txBody>
      </p:sp>
      <p:sp>
        <p:nvSpPr>
          <p:cNvPr id="15379" name="TextBox 15378"/>
          <p:cNvSpPr txBox="1"/>
          <p:nvPr/>
        </p:nvSpPr>
        <p:spPr>
          <a:xfrm>
            <a:off x="6327648" y="2212848"/>
            <a:ext cx="1325880" cy="658368"/>
          </a:xfrm>
          <a:prstGeom prst="rect">
            <a:avLst/>
          </a:prstGeom>
          <a:noFill/>
        </p:spPr>
        <p:txBody>
          <a:bodyPr wrap="square" lIns="0" rIns="0" tIns="0" bIns="0" anchor="t">
            <a:spAutoFit/>
          </a:bodyPr>
          <a:lstStyle/>
          <a:p>
            <a:pPr algn="l">
              <a:lnSpc>
                <a:spcPct val="90000"/>
              </a:lnSpc>
              <a:spcBef>
                <a:spcPts val="0"/>
              </a:spcBef>
              <a:spcAft>
                <a:spcPts val="0"/>
              </a:spcAft>
            </a:pPr>
            <a:r>
              <a:rPr sz="2100" b="1" i="0">
                <a:solidFill>
                  <a:srgbClr val="0B3C78"/>
                </a:solidFill>
                <a:latin typeface="Calibri"/>
              </a:rPr>
              <a:t>59</a:t>
            </a:r>
          </a:p>
          <a:p>
            <a:pPr algn="l">
              <a:lnSpc>
                <a:spcPct val="90000"/>
              </a:lnSpc>
              <a:spcBef>
                <a:spcPts val="0"/>
              </a:spcBef>
              <a:spcAft>
                <a:spcPts val="0"/>
              </a:spcAft>
            </a:pPr>
            <a:r>
              <a:rPr sz="900" b="0" i="0">
                <a:solidFill>
                  <a:srgbClr val="52647C"/>
                </a:solidFill>
                <a:latin typeface="Calibri"/>
              </a:rPr>
              <a:t>API routes</a:t>
            </a:r>
          </a:p>
        </p:txBody>
      </p:sp>
      <p:sp>
        <p:nvSpPr>
          <p:cNvPr id="15380" name="TextBox 15379"/>
          <p:cNvSpPr txBox="1"/>
          <p:nvPr/>
        </p:nvSpPr>
        <p:spPr>
          <a:xfrm>
            <a:off x="7717536" y="2212848"/>
            <a:ext cx="1325880" cy="658368"/>
          </a:xfrm>
          <a:prstGeom prst="rect">
            <a:avLst/>
          </a:prstGeom>
          <a:noFill/>
        </p:spPr>
        <p:txBody>
          <a:bodyPr wrap="square" lIns="0" rIns="0" tIns="0" bIns="0" anchor="t">
            <a:spAutoFit/>
          </a:bodyPr>
          <a:lstStyle/>
          <a:p>
            <a:pPr algn="l">
              <a:lnSpc>
                <a:spcPct val="90000"/>
              </a:lnSpc>
              <a:spcBef>
                <a:spcPts val="0"/>
              </a:spcBef>
              <a:spcAft>
                <a:spcPts val="0"/>
              </a:spcAft>
            </a:pPr>
            <a:r>
              <a:rPr sz="2100" b="1" i="0">
                <a:solidFill>
                  <a:srgbClr val="0B3C78"/>
                </a:solidFill>
                <a:latin typeface="Calibri"/>
              </a:rPr>
              <a:t>17</a:t>
            </a:r>
          </a:p>
          <a:p>
            <a:pPr algn="l">
              <a:lnSpc>
                <a:spcPct val="90000"/>
              </a:lnSpc>
              <a:spcBef>
                <a:spcPts val="0"/>
              </a:spcBef>
              <a:spcAft>
                <a:spcPts val="0"/>
              </a:spcAft>
            </a:pPr>
            <a:r>
              <a:rPr sz="900" b="0" i="0">
                <a:solidFill>
                  <a:srgbClr val="52647C"/>
                </a:solidFill>
                <a:latin typeface="Calibri"/>
              </a:rPr>
              <a:t>DB tables</a:t>
            </a:r>
          </a:p>
        </p:txBody>
      </p:sp>
      <p:sp>
        <p:nvSpPr>
          <p:cNvPr id="15381" name="TextBox 15380"/>
          <p:cNvSpPr txBox="1"/>
          <p:nvPr/>
        </p:nvSpPr>
        <p:spPr>
          <a:xfrm>
            <a:off x="9107424" y="2212848"/>
            <a:ext cx="1325880" cy="658368"/>
          </a:xfrm>
          <a:prstGeom prst="rect">
            <a:avLst/>
          </a:prstGeom>
          <a:noFill/>
        </p:spPr>
        <p:txBody>
          <a:bodyPr wrap="square" lIns="0" rIns="0" tIns="0" bIns="0" anchor="t">
            <a:spAutoFit/>
          </a:bodyPr>
          <a:lstStyle/>
          <a:p>
            <a:pPr algn="l">
              <a:lnSpc>
                <a:spcPct val="90000"/>
              </a:lnSpc>
              <a:spcBef>
                <a:spcPts val="0"/>
              </a:spcBef>
              <a:spcAft>
                <a:spcPts val="0"/>
              </a:spcAft>
            </a:pPr>
            <a:r>
              <a:rPr sz="2100" b="1" i="0">
                <a:solidFill>
                  <a:srgbClr val="0B3C78"/>
                </a:solidFill>
                <a:latin typeface="Calibri"/>
              </a:rPr>
              <a:t>135</a:t>
            </a:r>
          </a:p>
          <a:p>
            <a:pPr algn="l">
              <a:lnSpc>
                <a:spcPct val="90000"/>
              </a:lnSpc>
              <a:spcBef>
                <a:spcPts val="0"/>
              </a:spcBef>
              <a:spcAft>
                <a:spcPts val="0"/>
              </a:spcAft>
            </a:pPr>
            <a:r>
              <a:rPr sz="900" b="0" i="0">
                <a:solidFill>
                  <a:srgbClr val="52647C"/>
                </a:solidFill>
                <a:latin typeface="Calibri"/>
              </a:rPr>
              <a:t>tests passing</a:t>
            </a:r>
          </a:p>
        </p:txBody>
      </p:sp>
      <p:sp>
        <p:nvSpPr>
          <p:cNvPr id="15382" name="TextBox 15381"/>
          <p:cNvSpPr txBox="1"/>
          <p:nvPr/>
        </p:nvSpPr>
        <p:spPr>
          <a:xfrm>
            <a:off x="10497312" y="2212848"/>
            <a:ext cx="1325880" cy="658368"/>
          </a:xfrm>
          <a:prstGeom prst="rect">
            <a:avLst/>
          </a:prstGeom>
          <a:noFill/>
        </p:spPr>
        <p:txBody>
          <a:bodyPr wrap="square" lIns="0" rIns="0" tIns="0" bIns="0" anchor="t">
            <a:spAutoFit/>
          </a:bodyPr>
          <a:lstStyle/>
          <a:p>
            <a:pPr algn="l">
              <a:lnSpc>
                <a:spcPct val="90000"/>
              </a:lnSpc>
              <a:spcBef>
                <a:spcPts val="0"/>
              </a:spcBef>
              <a:spcAft>
                <a:spcPts val="0"/>
              </a:spcAft>
            </a:pPr>
            <a:r>
              <a:rPr sz="2100" b="1" i="0">
                <a:solidFill>
                  <a:srgbClr val="0B3C78"/>
                </a:solidFill>
                <a:latin typeface="Calibri"/>
              </a:rPr>
              <a:t>7</a:t>
            </a:r>
          </a:p>
          <a:p>
            <a:pPr algn="l">
              <a:lnSpc>
                <a:spcPct val="90000"/>
              </a:lnSpc>
              <a:spcBef>
                <a:spcPts val="0"/>
              </a:spcBef>
              <a:spcAft>
                <a:spcPts val="0"/>
              </a:spcAft>
            </a:pPr>
            <a:r>
              <a:rPr sz="900" b="0" i="0">
                <a:solidFill>
                  <a:srgbClr val="52647C"/>
                </a:solidFill>
                <a:latin typeface="Calibri"/>
              </a:rPr>
              <a:t>languages</a:t>
            </a:r>
          </a:p>
        </p:txBody>
      </p:sp>
      <p:pic>
        <p:nvPicPr>
          <p:cNvPr id="15383" name="Picture 15382" descr="fig_architecture.png"/>
          <p:cNvPicPr>
            <a:picLocks noChangeAspect="1"/>
          </p:cNvPicPr>
          <p:nvPr/>
        </p:nvPicPr>
        <p:blipFill>
          <a:blip r:embed="rId4"/>
          <a:stretch>
            <a:fillRect/>
          </a:stretch>
        </p:blipFill>
        <p:spPr>
          <a:xfrm>
            <a:off x="6144768" y="3145536"/>
            <a:ext cx="5742432" cy="2778596"/>
          </a:xfrm>
          <a:prstGeom prst="rect">
            <a:avLst/>
          </a:prstGeom>
        </p:spPr>
      </p:pic>
      <p:sp>
        <p:nvSpPr>
          <p:cNvPr id="15384" name="TextBox 15383"/>
          <p:cNvSpPr txBox="1"/>
          <p:nvPr/>
        </p:nvSpPr>
        <p:spPr>
          <a:xfrm>
            <a:off x="6144768" y="6053328"/>
            <a:ext cx="5742432" cy="219456"/>
          </a:xfrm>
          <a:prstGeom prst="rect">
            <a:avLst/>
          </a:prstGeom>
          <a:noFill/>
        </p:spPr>
        <p:txBody>
          <a:bodyPr wrap="square" lIns="0" rIns="0" tIns="0" bIns="0" anchor="t">
            <a:spAutoFit/>
          </a:bodyPr>
          <a:lstStyle/>
          <a:p>
            <a:pPr algn="l">
              <a:spcBef>
                <a:spcPts val="0"/>
              </a:spcBef>
              <a:spcAft>
                <a:spcPts val="0"/>
              </a:spcAft>
            </a:pPr>
            <a:r>
              <a:rPr sz="850" b="0" i="1">
                <a:solidFill>
                  <a:srgbClr val="52647C"/>
                </a:solidFill>
                <a:latin typeface="Calibri"/>
              </a:rPr>
              <a:t>Architecture — every layer in this diagram is deployed.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00" b="1" i="0">
                <a:solidFill>
                  <a:srgbClr val="FFFFFF"/>
                </a:solidFill>
                <a:latin typeface="Calibri"/>
              </a:rPr>
              <a:t>UNFILTERED
ENGINEERS</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29184" y="1133856"/>
            <a:ext cx="5486400" cy="237744"/>
          </a:xfrm>
          <a:prstGeom prst="rect">
            <a:avLst/>
          </a:prstGeom>
          <a:noFill/>
        </p:spPr>
        <p:txBody>
          <a:bodyPr wrap="square" lIns="0" rIns="0" tIns="0" bIns="0" anchor="t">
            <a:spAutoFit/>
          </a:bodyPr>
          <a:lstStyle/>
          <a:p>
            <a:pPr algn="l">
              <a:spcBef>
                <a:spcPts val="0"/>
              </a:spcBef>
              <a:spcAft>
                <a:spcPts val="0"/>
              </a:spcAft>
            </a:pPr>
            <a:r>
              <a:rPr sz="1250" b="1" i="0">
                <a:solidFill>
                  <a:srgbClr val="0B3C78"/>
                </a:solidFill>
                <a:latin typeface="Calibri"/>
              </a:rPr>
              <a:t>Methodology and process for implementation</a:t>
            </a:r>
          </a:p>
        </p:txBody>
      </p:sp>
      <p:sp>
        <p:nvSpPr>
          <p:cNvPr id="17411" name="TextBox 17410"/>
          <p:cNvSpPr txBox="1"/>
          <p:nvPr/>
        </p:nvSpPr>
        <p:spPr>
          <a:xfrm>
            <a:off x="329184" y="1389888"/>
            <a:ext cx="11521440" cy="219456"/>
          </a:xfrm>
          <a:prstGeom prst="rect">
            <a:avLst/>
          </a:prstGeom>
          <a:noFill/>
        </p:spPr>
        <p:txBody>
          <a:bodyPr wrap="square" lIns="0" rIns="0" tIns="0" bIns="0" anchor="t">
            <a:spAutoFit/>
          </a:bodyPr>
          <a:lstStyle/>
          <a:p>
            <a:pPr algn="l">
              <a:spcBef>
                <a:spcPts val="0"/>
              </a:spcBef>
              <a:spcAft>
                <a:spcPts val="0"/>
              </a:spcAft>
            </a:pPr>
            <a:r>
              <a:rPr sz="980" b="0" i="0">
                <a:solidFill>
                  <a:srgbClr val="52647C"/>
                </a:solidFill>
                <a:latin typeface="Calibri"/>
              </a:rPr>
              <a:t>Six steps from a patient arriving at a sub-centre to a signed clinical decision. The tier decides what happens next — each tier has a different, defined output.</a:t>
            </a:r>
          </a:p>
        </p:txBody>
      </p:sp>
      <p:pic>
        <p:nvPicPr>
          <p:cNvPr id="17412" name="Picture 17411" descr="fig_flow.png"/>
          <p:cNvPicPr>
            <a:picLocks noChangeAspect="1"/>
          </p:cNvPicPr>
          <p:nvPr/>
        </p:nvPicPr>
        <p:blipFill>
          <a:blip r:embed="rId4"/>
          <a:stretch>
            <a:fillRect/>
          </a:stretch>
        </p:blipFill>
        <p:spPr>
          <a:xfrm>
            <a:off x="704088" y="1664208"/>
            <a:ext cx="10789920" cy="3707306"/>
          </a:xfrm>
          <a:prstGeom prst="rect">
            <a:avLst/>
          </a:prstGeom>
        </p:spPr>
      </p:pic>
      <p:sp>
        <p:nvSpPr>
          <p:cNvPr id="17413" name="TextBox 17412"/>
          <p:cNvSpPr txBox="1"/>
          <p:nvPr/>
        </p:nvSpPr>
        <p:spPr>
          <a:xfrm>
            <a:off x="329184" y="5504688"/>
            <a:ext cx="5486400" cy="237744"/>
          </a:xfrm>
          <a:prstGeom prst="rect">
            <a:avLst/>
          </a:prstGeom>
          <a:noFill/>
        </p:spPr>
        <p:txBody>
          <a:bodyPr wrap="square" lIns="0" rIns="0" tIns="0" bIns="0" anchor="t">
            <a:spAutoFit/>
          </a:bodyPr>
          <a:lstStyle/>
          <a:p>
            <a:pPr algn="l">
              <a:spcBef>
                <a:spcPts val="0"/>
              </a:spcBef>
              <a:spcAft>
                <a:spcPts val="0"/>
              </a:spcAft>
            </a:pPr>
            <a:r>
              <a:rPr sz="1250" b="1" i="0">
                <a:solidFill>
                  <a:srgbClr val="0B3C78"/>
                </a:solidFill>
                <a:latin typeface="Calibri"/>
              </a:rPr>
              <a:t>Technologies to be used</a:t>
            </a:r>
          </a:p>
        </p:txBody>
      </p:sp>
      <p:pic>
        <p:nvPicPr>
          <p:cNvPr id="17414" name="Picture 17413" descr="fig_stack.png"/>
          <p:cNvPicPr>
            <a:picLocks noChangeAspect="1"/>
          </p:cNvPicPr>
          <p:nvPr/>
        </p:nvPicPr>
        <p:blipFill>
          <a:blip r:embed="rId5"/>
          <a:stretch>
            <a:fillRect/>
          </a:stretch>
        </p:blipFill>
        <p:spPr>
          <a:xfrm>
            <a:off x="704088" y="5742432"/>
            <a:ext cx="10789920" cy="5533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00" b="1" i="0">
                <a:solidFill>
                  <a:srgbClr val="FFFFFF"/>
                </a:solidFill>
                <a:latin typeface="Calibri"/>
              </a:rPr>
              <a:t>UNFILTERED
ENGINEERS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29184" y="1170432"/>
            <a:ext cx="5669280" cy="237744"/>
          </a:xfrm>
          <a:prstGeom prst="rect">
            <a:avLst/>
          </a:prstGeom>
          <a:noFill/>
        </p:spPr>
        <p:txBody>
          <a:bodyPr wrap="square" lIns="0" rIns="0" tIns="0" bIns="0" anchor="t">
            <a:spAutoFit/>
          </a:bodyPr>
          <a:lstStyle/>
          <a:p>
            <a:pPr algn="l">
              <a:spcBef>
                <a:spcPts val="0"/>
              </a:spcBef>
              <a:spcAft>
                <a:spcPts val="0"/>
              </a:spcAft>
            </a:pPr>
            <a:r>
              <a:rPr sz="1250" b="1" i="0">
                <a:solidFill>
                  <a:srgbClr val="0B3C78"/>
                </a:solidFill>
                <a:latin typeface="Calibri"/>
              </a:rPr>
              <a:t>Analysis of the feasibility of the idea</a:t>
            </a:r>
          </a:p>
        </p:txBody>
      </p:sp>
      <p:sp>
        <p:nvSpPr>
          <p:cNvPr id="17411" name="TextBox 17410"/>
          <p:cNvSpPr txBox="1"/>
          <p:nvPr/>
        </p:nvSpPr>
        <p:spPr>
          <a:xfrm>
            <a:off x="329184" y="1463040"/>
            <a:ext cx="5669280" cy="420624"/>
          </a:xfrm>
          <a:prstGeom prst="rect">
            <a:avLst/>
          </a:prstGeom>
          <a:noFill/>
        </p:spPr>
        <p:txBody>
          <a:bodyPr wrap="square" lIns="0" rIns="0" tIns="0" bIns="0" anchor="t">
            <a:spAutoFit/>
          </a:bodyPr>
          <a:lstStyle/>
          <a:p>
            <a:pPr algn="l">
              <a:lnSpc>
                <a:spcPct val="95000"/>
              </a:lnSpc>
              <a:spcBef>
                <a:spcPts val="0"/>
              </a:spcBef>
              <a:spcAft>
                <a:spcPts val="0"/>
              </a:spcAft>
            </a:pPr>
            <a:r>
              <a:rPr sz="1000" b="1" i="0">
                <a:solidFill>
                  <a:srgbClr val="15803D"/>
                </a:solidFill>
                <a:latin typeface="Calibri"/>
              </a:rPr>
              <a:t>Technical  </a:t>
            </a:r>
            <a:r>
              <a:rPr sz="950" b="0" i="0">
                <a:solidFill>
                  <a:srgbClr val="52647C"/>
                </a:solidFill>
                <a:latin typeface="Calibri"/>
              </a:rPr>
              <a:t>Built and deployed on proven open stacks — Node, PostgreSQL, React, scikit-learn. 135 automated tests. Model artifact is 3.6 MB and runs on CPU.</a:t>
            </a:r>
          </a:p>
        </p:txBody>
      </p:sp>
      <p:sp>
        <p:nvSpPr>
          <p:cNvPr id="17412" name="TextBox 17411"/>
          <p:cNvSpPr txBox="1"/>
          <p:nvPr/>
        </p:nvSpPr>
        <p:spPr>
          <a:xfrm>
            <a:off x="329184" y="1920240"/>
            <a:ext cx="5669280" cy="420624"/>
          </a:xfrm>
          <a:prstGeom prst="rect">
            <a:avLst/>
          </a:prstGeom>
          <a:noFill/>
        </p:spPr>
        <p:txBody>
          <a:bodyPr wrap="square" lIns="0" rIns="0" tIns="0" bIns="0" anchor="t">
            <a:spAutoFit/>
          </a:bodyPr>
          <a:lstStyle/>
          <a:p>
            <a:pPr algn="l">
              <a:lnSpc>
                <a:spcPct val="95000"/>
              </a:lnSpc>
              <a:spcBef>
                <a:spcPts val="0"/>
              </a:spcBef>
              <a:spcAft>
                <a:spcPts val="0"/>
              </a:spcAft>
            </a:pPr>
            <a:r>
              <a:rPr sz="1000" b="1" i="0">
                <a:solidFill>
                  <a:srgbClr val="15803D"/>
                </a:solidFill>
                <a:latin typeface="Calibri"/>
              </a:rPr>
              <a:t>Operational  </a:t>
            </a:r>
            <a:r>
              <a:rPr sz="950" b="0" i="0">
                <a:solidFill>
                  <a:srgbClr val="52647C"/>
                </a:solidFill>
                <a:latin typeface="Calibri"/>
              </a:rPr>
              <a:t>The operator is the health worker who already staffs the sub-centre. No new cadre, no new hardware — a browser and a phone camera.</a:t>
            </a:r>
          </a:p>
        </p:txBody>
      </p:sp>
      <p:sp>
        <p:nvSpPr>
          <p:cNvPr id="17413" name="TextBox 17412"/>
          <p:cNvSpPr txBox="1"/>
          <p:nvPr/>
        </p:nvSpPr>
        <p:spPr>
          <a:xfrm>
            <a:off x="329184" y="2377440"/>
            <a:ext cx="5669280" cy="420624"/>
          </a:xfrm>
          <a:prstGeom prst="rect">
            <a:avLst/>
          </a:prstGeom>
          <a:noFill/>
        </p:spPr>
        <p:txBody>
          <a:bodyPr wrap="square" lIns="0" rIns="0" tIns="0" bIns="0" anchor="t">
            <a:spAutoFit/>
          </a:bodyPr>
          <a:lstStyle/>
          <a:p>
            <a:pPr algn="l">
              <a:lnSpc>
                <a:spcPct val="95000"/>
              </a:lnSpc>
              <a:spcBef>
                <a:spcPts val="0"/>
              </a:spcBef>
              <a:spcAft>
                <a:spcPts val="0"/>
              </a:spcAft>
            </a:pPr>
            <a:r>
              <a:rPr sz="1000" b="1" i="0">
                <a:solidFill>
                  <a:srgbClr val="15803D"/>
                </a:solidFill>
                <a:latin typeface="Calibri"/>
              </a:rPr>
              <a:t>Economic  </a:t>
            </a:r>
            <a:r>
              <a:rPr sz="950" b="0" i="0">
                <a:solidFill>
                  <a:srgbClr val="52647C"/>
                </a:solidFill>
                <a:latin typeface="Calibri"/>
              </a:rPr>
              <a:t>Video is peer-to-peer, referral routing is a local data file, read-aloud is on-device. Only the model calls cost money per assessment.</a:t>
            </a:r>
          </a:p>
        </p:txBody>
      </p:sp>
      <p:sp>
        <p:nvSpPr>
          <p:cNvPr id="17414" name="TextBox 17413"/>
          <p:cNvSpPr txBox="1"/>
          <p:nvPr/>
        </p:nvSpPr>
        <p:spPr>
          <a:xfrm>
            <a:off x="329184" y="2834640"/>
            <a:ext cx="5669280" cy="420624"/>
          </a:xfrm>
          <a:prstGeom prst="rect">
            <a:avLst/>
          </a:prstGeom>
          <a:noFill/>
        </p:spPr>
        <p:txBody>
          <a:bodyPr wrap="square" lIns="0" rIns="0" tIns="0" bIns="0" anchor="t">
            <a:spAutoFit/>
          </a:bodyPr>
          <a:lstStyle/>
          <a:p>
            <a:pPr algn="l">
              <a:lnSpc>
                <a:spcPct val="95000"/>
              </a:lnSpc>
              <a:spcBef>
                <a:spcPts val="0"/>
              </a:spcBef>
              <a:spcAft>
                <a:spcPts val="0"/>
              </a:spcAft>
            </a:pPr>
            <a:r>
              <a:rPr sz="1000" b="1" i="0">
                <a:solidFill>
                  <a:srgbClr val="15803D"/>
                </a:solidFill>
                <a:latin typeface="Calibri"/>
              </a:rPr>
              <a:t>Institutional  </a:t>
            </a:r>
            <a:r>
              <a:rPr sz="950" b="0" i="0">
                <a:solidFill>
                  <a:srgbClr val="52647C"/>
                </a:solidFill>
                <a:latin typeface="Calibri"/>
              </a:rPr>
              <a:t>Six roles scoped by district, append-only audit log, row-level security — the shape a state health department can actually run.</a:t>
            </a:r>
          </a:p>
        </p:txBody>
      </p:sp>
      <p:sp>
        <p:nvSpPr>
          <p:cNvPr id="17415" name="TextBox 17414"/>
          <p:cNvSpPr txBox="1"/>
          <p:nvPr/>
        </p:nvSpPr>
        <p:spPr>
          <a:xfrm>
            <a:off x="329184" y="3346704"/>
            <a:ext cx="5669280" cy="237744"/>
          </a:xfrm>
          <a:prstGeom prst="rect">
            <a:avLst/>
          </a:prstGeom>
          <a:noFill/>
        </p:spPr>
        <p:txBody>
          <a:bodyPr wrap="square" lIns="0" rIns="0" tIns="0" bIns="0" anchor="t">
            <a:spAutoFit/>
          </a:bodyPr>
          <a:lstStyle/>
          <a:p>
            <a:pPr algn="l">
              <a:spcBef>
                <a:spcPts val="0"/>
              </a:spcBef>
              <a:spcAft>
                <a:spcPts val="0"/>
              </a:spcAft>
            </a:pPr>
            <a:r>
              <a:rPr sz="1250" b="1" i="0">
                <a:solidFill>
                  <a:srgbClr val="0B3C78"/>
                </a:solidFill>
                <a:latin typeface="Calibri"/>
              </a:rPr>
              <a:t>Viability</a:t>
            </a:r>
          </a:p>
        </p:txBody>
      </p:sp>
      <p:sp>
        <p:nvSpPr>
          <p:cNvPr id="17416" name="TextBox 17415"/>
          <p:cNvSpPr txBox="1"/>
          <p:nvPr/>
        </p:nvSpPr>
        <p:spPr>
          <a:xfrm>
            <a:off x="329184" y="3639312"/>
            <a:ext cx="5669280" cy="365760"/>
          </a:xfrm>
          <a:prstGeom prst="rect">
            <a:avLst/>
          </a:prstGeom>
          <a:noFill/>
        </p:spPr>
        <p:txBody>
          <a:bodyPr wrap="square" lIns="0" rIns="0" tIns="0" bIns="0" anchor="t">
            <a:spAutoFit/>
          </a:bodyPr>
          <a:lstStyle/>
          <a:p>
            <a:pPr algn="l">
              <a:lnSpc>
                <a:spcPct val="95000"/>
              </a:lnSpc>
              <a:spcBef>
                <a:spcPts val="0"/>
              </a:spcBef>
              <a:spcAft>
                <a:spcPts val="0"/>
              </a:spcAft>
            </a:pPr>
            <a:r>
              <a:rPr sz="1000" b="1" i="0">
                <a:solidFill>
                  <a:srgbClr val="0B3C78"/>
                </a:solidFill>
                <a:latin typeface="Calibri"/>
              </a:rPr>
              <a:t>Deployment unit  </a:t>
            </a:r>
            <a:r>
              <a:rPr sz="950" b="0" i="0">
                <a:solidFill>
                  <a:srgbClr val="52647C"/>
                </a:solidFill>
                <a:latin typeface="Calibri"/>
              </a:rPr>
              <a:t>the sub-centre — already the tenancy key in the schema.</a:t>
            </a:r>
          </a:p>
        </p:txBody>
      </p:sp>
      <p:sp>
        <p:nvSpPr>
          <p:cNvPr id="17417" name="TextBox 17416"/>
          <p:cNvSpPr txBox="1"/>
          <p:nvPr/>
        </p:nvSpPr>
        <p:spPr>
          <a:xfrm>
            <a:off x="329184" y="4023360"/>
            <a:ext cx="5669280" cy="365760"/>
          </a:xfrm>
          <a:prstGeom prst="rect">
            <a:avLst/>
          </a:prstGeom>
          <a:noFill/>
        </p:spPr>
        <p:txBody>
          <a:bodyPr wrap="square" lIns="0" rIns="0" tIns="0" bIns="0" anchor="t">
            <a:spAutoFit/>
          </a:bodyPr>
          <a:lstStyle/>
          <a:p>
            <a:pPr algn="l">
              <a:lnSpc>
                <a:spcPct val="95000"/>
              </a:lnSpc>
              <a:spcBef>
                <a:spcPts val="0"/>
              </a:spcBef>
              <a:spcAft>
                <a:spcPts val="0"/>
              </a:spcAft>
            </a:pPr>
            <a:r>
              <a:rPr sz="1000" b="1" i="0">
                <a:solidFill>
                  <a:srgbClr val="0B3C78"/>
                </a:solidFill>
                <a:latin typeface="Calibri"/>
              </a:rPr>
              <a:t>Policy fit  </a:t>
            </a:r>
            <a:r>
              <a:rPr sz="950" b="0" i="0">
                <a:solidFill>
                  <a:srgbClr val="52647C"/>
                </a:solidFill>
                <a:latin typeface="Calibri"/>
              </a:rPr>
              <a:t>strengthens eSanjeevani and ABDM rather than competing with them.</a:t>
            </a:r>
          </a:p>
        </p:txBody>
      </p:sp>
      <p:sp>
        <p:nvSpPr>
          <p:cNvPr id="17418" name="TextBox 17417"/>
          <p:cNvSpPr txBox="1"/>
          <p:nvPr/>
        </p:nvSpPr>
        <p:spPr>
          <a:xfrm>
            <a:off x="329184" y="4407408"/>
            <a:ext cx="5669280" cy="365760"/>
          </a:xfrm>
          <a:prstGeom prst="rect">
            <a:avLst/>
          </a:prstGeom>
          <a:noFill/>
        </p:spPr>
        <p:txBody>
          <a:bodyPr wrap="square" lIns="0" rIns="0" tIns="0" bIns="0" anchor="t">
            <a:spAutoFit/>
          </a:bodyPr>
          <a:lstStyle/>
          <a:p>
            <a:pPr algn="l">
              <a:lnSpc>
                <a:spcPct val="95000"/>
              </a:lnSpc>
              <a:spcBef>
                <a:spcPts val="0"/>
              </a:spcBef>
              <a:spcAft>
                <a:spcPts val="0"/>
              </a:spcAft>
            </a:pPr>
            <a:r>
              <a:rPr sz="1000" b="1" i="0">
                <a:solidFill>
                  <a:srgbClr val="0B3C78"/>
                </a:solidFill>
                <a:latin typeface="Calibri"/>
              </a:rPr>
              <a:t>Sustainability  </a:t>
            </a:r>
            <a:r>
              <a:rPr sz="950" b="0" i="0">
                <a:solidFill>
                  <a:srgbClr val="52647C"/>
                </a:solidFill>
                <a:latin typeface="Calibri"/>
              </a:rPr>
              <a:t>per-facility licensing under NHM budgets; teleconsultation is already reimbursable under the Ayushman Bharat framework.</a:t>
            </a:r>
          </a:p>
        </p:txBody>
      </p:sp>
      <p:sp>
        <p:nvSpPr>
          <p:cNvPr id="17419" name="TextBox 17418"/>
          <p:cNvSpPr txBox="1"/>
          <p:nvPr/>
        </p:nvSpPr>
        <p:spPr>
          <a:xfrm>
            <a:off x="6272784" y="1170432"/>
            <a:ext cx="5614416" cy="237744"/>
          </a:xfrm>
          <a:prstGeom prst="rect">
            <a:avLst/>
          </a:prstGeom>
          <a:noFill/>
        </p:spPr>
        <p:txBody>
          <a:bodyPr wrap="square" lIns="0" rIns="0" tIns="0" bIns="0" anchor="t">
            <a:spAutoFit/>
          </a:bodyPr>
          <a:lstStyle/>
          <a:p>
            <a:pPr algn="l">
              <a:spcBef>
                <a:spcPts val="0"/>
              </a:spcBef>
              <a:spcAft>
                <a:spcPts val="0"/>
              </a:spcAft>
            </a:pPr>
            <a:r>
              <a:rPr sz="1250" b="1" i="0">
                <a:solidFill>
                  <a:srgbClr val="0B3C78"/>
                </a:solidFill>
                <a:latin typeface="Calibri"/>
              </a:rPr>
              <a:t>Potential challenges and risks  ·  Strategies for overcoming these</a:t>
            </a:r>
          </a:p>
        </p:txBody>
      </p:sp>
      <p:sp>
        <p:nvSpPr>
          <p:cNvPr id="17420" name="Rounded Rectangle 17419"/>
          <p:cNvSpPr/>
          <p:nvPr/>
        </p:nvSpPr>
        <p:spPr>
          <a:xfrm>
            <a:off x="6272784" y="1481328"/>
            <a:ext cx="5614416" cy="676656"/>
          </a:xfrm>
          <a:prstGeom prst="roundRect">
            <a:avLst>
              <a:gd name="adj" fmla="val 10000"/>
            </a:avLst>
          </a:prstGeom>
          <a:solidFill>
            <a:srgbClr val="F4F7FB"/>
          </a:solidFill>
          <a:ln w="9525">
            <a:solidFill>
              <a:srgbClr val="CDD8E6"/>
            </a:solidFill>
          </a:ln>
          <a:effectLst/>
        </p:spPr>
        <p:style>
          <a:lnRef idx="1">
            <a:schemeClr val="accent1"/>
          </a:lnRef>
          <a:fillRef idx="3">
            <a:schemeClr val="accent1"/>
          </a:fillRef>
          <a:effectRef idx="2">
            <a:schemeClr val="accent1"/>
          </a:effectRef>
          <a:fontRef idx="minor">
            <a:schemeClr val="lt1"/>
          </a:fontRef>
        </p:style>
        <p:txBody>
          <a:bodyPr rtlCol="0" anchor="ctr" wrap="square" tIns="50292" bIns="36576"/>
          <a:lstStyle/>
          <a:p>
            <a:pPr algn="l">
              <a:lnSpc>
                <a:spcPct val="92000"/>
              </a:lnSpc>
              <a:spcBef>
                <a:spcPts val="0"/>
              </a:spcBef>
              <a:spcAft>
                <a:spcPts val="100"/>
              </a:spcAft>
            </a:pPr>
            <a:r>
              <a:rPr sz="850" b="1" i="0">
                <a:solidFill>
                  <a:srgbClr val="B45309"/>
                </a:solidFill>
                <a:latin typeface="Calibri"/>
              </a:rPr>
              <a:t>CLINICAL   </a:t>
            </a:r>
            <a:r>
              <a:rPr sz="900" b="1" i="0">
                <a:solidFill>
                  <a:srgbClr val="0F2037"/>
                </a:solidFill>
                <a:latin typeface="Calibri"/>
              </a:rPr>
              <a:t>Risk:  </a:t>
            </a:r>
            <a:r>
              <a:rPr sz="900" b="0" i="0">
                <a:solidFill>
                  <a:srgbClr val="52647C"/>
                </a:solidFill>
                <a:latin typeface="Calibri"/>
              </a:rPr>
              <a:t>Triage thresholds and the formulary are drawn from published guidance but are not yet practitioner-signed.</a:t>
            </a:r>
          </a:p>
          <a:p>
            <a:pPr algn="l">
              <a:lnSpc>
                <a:spcPct val="92000"/>
              </a:lnSpc>
              <a:spcBef>
                <a:spcPts val="0"/>
              </a:spcBef>
              <a:spcAft>
                <a:spcPts val="0"/>
              </a:spcAft>
            </a:pPr>
            <a:r>
              <a:rPr sz="900" b="1" i="0">
                <a:solidFill>
                  <a:srgbClr val="15803D"/>
                </a:solidFill>
                <a:latin typeface="Calibri"/>
              </a:rPr>
              <a:t>Mitigation:  </a:t>
            </a:r>
            <a:r>
              <a:rPr sz="900" b="0" i="0">
                <a:solidFill>
                  <a:srgbClr val="52647C"/>
                </a:solidFill>
                <a:latin typeface="Calibri"/>
              </a:rPr>
              <a:t>Medication is withheld from the health worker at every tier and suppressed by default in production. The system states this on its own pages. Sign-off is a named launch gate, not a code task.</a:t>
            </a:r>
          </a:p>
        </p:txBody>
      </p:sp>
      <p:sp>
        <p:nvSpPr>
          <p:cNvPr id="17421" name="Rounded Rectangle 17420"/>
          <p:cNvSpPr/>
          <p:nvPr/>
        </p:nvSpPr>
        <p:spPr>
          <a:xfrm>
            <a:off x="6272784" y="2212848"/>
            <a:ext cx="5614416" cy="676656"/>
          </a:xfrm>
          <a:prstGeom prst="roundRect">
            <a:avLst>
              <a:gd name="adj" fmla="val 10000"/>
            </a:avLst>
          </a:prstGeom>
          <a:solidFill>
            <a:srgbClr val="F4F7FB"/>
          </a:solidFill>
          <a:ln w="9525">
            <a:solidFill>
              <a:srgbClr val="CDD8E6"/>
            </a:solidFill>
          </a:ln>
          <a:effectLst/>
        </p:spPr>
        <p:style>
          <a:lnRef idx="1">
            <a:schemeClr val="accent1"/>
          </a:lnRef>
          <a:fillRef idx="3">
            <a:schemeClr val="accent1"/>
          </a:fillRef>
          <a:effectRef idx="2">
            <a:schemeClr val="accent1"/>
          </a:effectRef>
          <a:fontRef idx="minor">
            <a:schemeClr val="lt1"/>
          </a:fontRef>
        </p:style>
        <p:txBody>
          <a:bodyPr rtlCol="0" anchor="ctr" wrap="square" tIns="50292" bIns="36576"/>
          <a:lstStyle/>
          <a:p>
            <a:pPr algn="l">
              <a:lnSpc>
                <a:spcPct val="92000"/>
              </a:lnSpc>
              <a:spcBef>
                <a:spcPts val="0"/>
              </a:spcBef>
              <a:spcAft>
                <a:spcPts val="100"/>
              </a:spcAft>
            </a:pPr>
            <a:r>
              <a:rPr sz="850" b="1" i="0">
                <a:solidFill>
                  <a:srgbClr val="B45309"/>
                </a:solidFill>
                <a:latin typeface="Calibri"/>
              </a:rPr>
              <a:t>CONNECTIVITY   </a:t>
            </a:r>
            <a:r>
              <a:rPr sz="900" b="1" i="0">
                <a:solidFill>
                  <a:srgbClr val="0F2037"/>
                </a:solidFill>
                <a:latin typeface="Calibri"/>
              </a:rPr>
              <a:t>Risk:  </a:t>
            </a:r>
            <a:r>
              <a:rPr sz="900" b="0" i="0">
                <a:solidFill>
                  <a:srgbClr val="52647C"/>
                </a:solidFill>
                <a:latin typeface="Calibri"/>
              </a:rPr>
              <a:t>Assessment currently needs a network round trip.</a:t>
            </a:r>
          </a:p>
          <a:p>
            <a:pPr algn="l">
              <a:lnSpc>
                <a:spcPct val="92000"/>
              </a:lnSpc>
              <a:spcBef>
                <a:spcPts val="0"/>
              </a:spcBef>
              <a:spcAft>
                <a:spcPts val="0"/>
              </a:spcAft>
            </a:pPr>
            <a:r>
              <a:rPr sz="900" b="1" i="0">
                <a:solidFill>
                  <a:srgbClr val="15803D"/>
                </a:solidFill>
                <a:latin typeface="Calibri"/>
              </a:rPr>
              <a:t>Mitigation:  </a:t>
            </a:r>
            <a:r>
              <a:rPr sz="900" b="0" i="0">
                <a:solidFill>
                  <a:srgbClr val="52647C"/>
                </a:solidFill>
                <a:latin typeface="Calibri"/>
              </a:rPr>
              <a:t>Rule engine, referral routing and read-aloud already run with no network. A 4-bit on-premise model at the PHC is the roadmap item that closes the rest.</a:t>
            </a:r>
          </a:p>
        </p:txBody>
      </p:sp>
      <p:sp>
        <p:nvSpPr>
          <p:cNvPr id="17422" name="Rounded Rectangle 17421"/>
          <p:cNvSpPr/>
          <p:nvPr/>
        </p:nvSpPr>
        <p:spPr>
          <a:xfrm>
            <a:off x="6272784" y="2944368"/>
            <a:ext cx="5614416" cy="676656"/>
          </a:xfrm>
          <a:prstGeom prst="roundRect">
            <a:avLst>
              <a:gd name="adj" fmla="val 10000"/>
            </a:avLst>
          </a:prstGeom>
          <a:solidFill>
            <a:srgbClr val="F4F7FB"/>
          </a:solidFill>
          <a:ln w="9525">
            <a:solidFill>
              <a:srgbClr val="CDD8E6"/>
            </a:solidFill>
          </a:ln>
          <a:effectLst/>
        </p:spPr>
        <p:style>
          <a:lnRef idx="1">
            <a:schemeClr val="accent1"/>
          </a:lnRef>
          <a:fillRef idx="3">
            <a:schemeClr val="accent1"/>
          </a:fillRef>
          <a:effectRef idx="2">
            <a:schemeClr val="accent1"/>
          </a:effectRef>
          <a:fontRef idx="minor">
            <a:schemeClr val="lt1"/>
          </a:fontRef>
        </p:style>
        <p:txBody>
          <a:bodyPr rtlCol="0" anchor="ctr" wrap="square" tIns="50292" bIns="36576"/>
          <a:lstStyle/>
          <a:p>
            <a:pPr algn="l">
              <a:lnSpc>
                <a:spcPct val="92000"/>
              </a:lnSpc>
              <a:spcBef>
                <a:spcPts val="0"/>
              </a:spcBef>
              <a:spcAft>
                <a:spcPts val="100"/>
              </a:spcAft>
            </a:pPr>
            <a:r>
              <a:rPr sz="850" b="1" i="0">
                <a:solidFill>
                  <a:srgbClr val="B45309"/>
                </a:solidFill>
                <a:latin typeface="Calibri"/>
              </a:rPr>
              <a:t>INTEROPERABILITY   </a:t>
            </a:r>
            <a:r>
              <a:rPr sz="900" b="1" i="0">
                <a:solidFill>
                  <a:srgbClr val="0F2037"/>
                </a:solidFill>
                <a:latin typeface="Calibri"/>
              </a:rPr>
              <a:t>Risk:  </a:t>
            </a:r>
            <a:r>
              <a:rPr sz="900" b="0" i="0">
                <a:solidFill>
                  <a:srgbClr val="52647C"/>
                </a:solidFill>
                <a:latin typeface="Calibri"/>
              </a:rPr>
              <a:t>ABDM/FHIR exchange is not built — the ABHA field is captured by card OCR only.</a:t>
            </a:r>
          </a:p>
          <a:p>
            <a:pPr algn="l">
              <a:lnSpc>
                <a:spcPct val="92000"/>
              </a:lnSpc>
              <a:spcBef>
                <a:spcPts val="0"/>
              </a:spcBef>
              <a:spcAft>
                <a:spcPts val="0"/>
              </a:spcAft>
            </a:pPr>
            <a:r>
              <a:rPr sz="900" b="1" i="0">
                <a:solidFill>
                  <a:srgbClr val="15803D"/>
                </a:solidFill>
                <a:latin typeface="Calibri"/>
              </a:rPr>
              <a:t>Mitigation:  </a:t>
            </a:r>
            <a:r>
              <a:rPr sz="900" b="0" i="0">
                <a:solidFill>
                  <a:srgbClr val="52647C"/>
                </a:solidFill>
                <a:latin typeface="Calibri"/>
              </a:rPr>
              <a:t>Records are already structured to the shapes ABDM consumes. Registering as a Health Information Provider is an adapter, not a data migration.</a:t>
            </a:r>
          </a:p>
        </p:txBody>
      </p:sp>
      <p:sp>
        <p:nvSpPr>
          <p:cNvPr id="17423" name="Rounded Rectangle 17422"/>
          <p:cNvSpPr/>
          <p:nvPr/>
        </p:nvSpPr>
        <p:spPr>
          <a:xfrm>
            <a:off x="6272784" y="3675887"/>
            <a:ext cx="5614416" cy="676656"/>
          </a:xfrm>
          <a:prstGeom prst="roundRect">
            <a:avLst>
              <a:gd name="adj" fmla="val 10000"/>
            </a:avLst>
          </a:prstGeom>
          <a:solidFill>
            <a:srgbClr val="F4F7FB"/>
          </a:solidFill>
          <a:ln w="9525">
            <a:solidFill>
              <a:srgbClr val="CDD8E6"/>
            </a:solidFill>
          </a:ln>
          <a:effectLst/>
        </p:spPr>
        <p:style>
          <a:lnRef idx="1">
            <a:schemeClr val="accent1"/>
          </a:lnRef>
          <a:fillRef idx="3">
            <a:schemeClr val="accent1"/>
          </a:fillRef>
          <a:effectRef idx="2">
            <a:schemeClr val="accent1"/>
          </a:effectRef>
          <a:fontRef idx="minor">
            <a:schemeClr val="lt1"/>
          </a:fontRef>
        </p:style>
        <p:txBody>
          <a:bodyPr rtlCol="0" anchor="ctr" wrap="square" tIns="50292" bIns="36576"/>
          <a:lstStyle/>
          <a:p>
            <a:pPr algn="l">
              <a:lnSpc>
                <a:spcPct val="92000"/>
              </a:lnSpc>
              <a:spcBef>
                <a:spcPts val="0"/>
              </a:spcBef>
              <a:spcAft>
                <a:spcPts val="100"/>
              </a:spcAft>
            </a:pPr>
            <a:r>
              <a:rPr sz="850" b="1" i="0">
                <a:solidFill>
                  <a:srgbClr val="B45309"/>
                </a:solidFill>
                <a:latin typeface="Calibri"/>
              </a:rPr>
              <a:t>CONTINUITY   </a:t>
            </a:r>
            <a:r>
              <a:rPr sz="900" b="1" i="0">
                <a:solidFill>
                  <a:srgbClr val="0F2037"/>
                </a:solidFill>
                <a:latin typeface="Calibri"/>
              </a:rPr>
              <a:t>Risk:  </a:t>
            </a:r>
            <a:r>
              <a:rPr sz="900" b="0" i="0">
                <a:solidFill>
                  <a:srgbClr val="52647C"/>
                </a:solidFill>
                <a:latin typeface="Calibri"/>
              </a:rPr>
              <a:t>Referral completion and high-risk follow-up are not yet tracked.</a:t>
            </a:r>
          </a:p>
          <a:p>
            <a:pPr algn="l">
              <a:lnSpc>
                <a:spcPct val="92000"/>
              </a:lnSpc>
              <a:spcBef>
                <a:spcPts val="0"/>
              </a:spcBef>
              <a:spcAft>
                <a:spcPts val="0"/>
              </a:spcAft>
            </a:pPr>
            <a:r>
              <a:rPr sz="900" b="1" i="0">
                <a:solidFill>
                  <a:srgbClr val="15803D"/>
                </a:solidFill>
                <a:latin typeface="Calibri"/>
              </a:rPr>
              <a:t>Mitigation:  </a:t>
            </a:r>
            <a:r>
              <a:rPr sz="900" b="0" i="0">
                <a:solidFill>
                  <a:srgbClr val="52647C"/>
                </a:solidFill>
                <a:latin typeface="Calibri"/>
              </a:rPr>
              <a:t>Both are scheduled work on an existing schema — the referral and review rows already exist; what is missing is the due-list and the closure loop.</a:t>
            </a:r>
          </a:p>
        </p:txBody>
      </p:sp>
      <p:sp>
        <p:nvSpPr>
          <p:cNvPr id="17424" name="Rounded Rectangle 17423"/>
          <p:cNvSpPr/>
          <p:nvPr/>
        </p:nvSpPr>
        <p:spPr>
          <a:xfrm>
            <a:off x="6272784" y="4407407"/>
            <a:ext cx="5614416" cy="676656"/>
          </a:xfrm>
          <a:prstGeom prst="roundRect">
            <a:avLst>
              <a:gd name="adj" fmla="val 10000"/>
            </a:avLst>
          </a:prstGeom>
          <a:solidFill>
            <a:srgbClr val="F4F7FB"/>
          </a:solidFill>
          <a:ln w="9525">
            <a:solidFill>
              <a:srgbClr val="CDD8E6"/>
            </a:solidFill>
          </a:ln>
          <a:effectLst/>
        </p:spPr>
        <p:style>
          <a:lnRef idx="1">
            <a:schemeClr val="accent1"/>
          </a:lnRef>
          <a:fillRef idx="3">
            <a:schemeClr val="accent1"/>
          </a:fillRef>
          <a:effectRef idx="2">
            <a:schemeClr val="accent1"/>
          </a:effectRef>
          <a:fontRef idx="minor">
            <a:schemeClr val="lt1"/>
          </a:fontRef>
        </p:style>
        <p:txBody>
          <a:bodyPr rtlCol="0" anchor="ctr" wrap="square" tIns="50292" bIns="36576"/>
          <a:lstStyle/>
          <a:p>
            <a:pPr algn="l">
              <a:lnSpc>
                <a:spcPct val="92000"/>
              </a:lnSpc>
              <a:spcBef>
                <a:spcPts val="0"/>
              </a:spcBef>
              <a:spcAft>
                <a:spcPts val="100"/>
              </a:spcAft>
            </a:pPr>
            <a:r>
              <a:rPr sz="850" b="1" i="0">
                <a:solidFill>
                  <a:srgbClr val="B45309"/>
                </a:solidFill>
                <a:latin typeface="Calibri"/>
              </a:rPr>
              <a:t>LOAD   </a:t>
            </a:r>
            <a:r>
              <a:rPr sz="900" b="1" i="0">
                <a:solidFill>
                  <a:srgbClr val="0F2037"/>
                </a:solidFill>
                <a:latin typeface="Calibri"/>
              </a:rPr>
              <a:t>Risk:  </a:t>
            </a:r>
            <a:r>
              <a:rPr sz="900" b="0" i="0">
                <a:solidFill>
                  <a:srgbClr val="52647C"/>
                </a:solidFill>
                <a:latin typeface="Calibri"/>
              </a:rPr>
              <a:t>Rate limiting and socket fan-out are per-process today.</a:t>
            </a:r>
          </a:p>
          <a:p>
            <a:pPr algn="l">
              <a:lnSpc>
                <a:spcPct val="92000"/>
              </a:lnSpc>
              <a:spcBef>
                <a:spcPts val="0"/>
              </a:spcBef>
              <a:spcAft>
                <a:spcPts val="0"/>
              </a:spcAft>
            </a:pPr>
            <a:r>
              <a:rPr sz="900" b="1" i="0">
                <a:solidFill>
                  <a:srgbClr val="15803D"/>
                </a:solidFill>
                <a:latin typeface="Calibri"/>
              </a:rPr>
              <a:t>Mitigation:  </a:t>
            </a:r>
            <a:r>
              <a:rPr sz="900" b="0" i="0">
                <a:solidFill>
                  <a:srgbClr val="52647C"/>
                </a:solidFill>
                <a:latin typeface="Calibri"/>
              </a:rPr>
              <a:t>A shared Redis store makes both horizontal. Identified, scoped, not yet needed at pilot scale.</a:t>
            </a:r>
          </a:p>
        </p:txBody>
      </p:sp>
      <p:sp>
        <p:nvSpPr>
          <p:cNvPr id="17425" name="TextBox 17424"/>
          <p:cNvSpPr txBox="1"/>
          <p:nvPr/>
        </p:nvSpPr>
        <p:spPr>
          <a:xfrm>
            <a:off x="329184" y="5138928"/>
            <a:ext cx="5669280" cy="237744"/>
          </a:xfrm>
          <a:prstGeom prst="rect">
            <a:avLst/>
          </a:prstGeom>
          <a:noFill/>
        </p:spPr>
        <p:txBody>
          <a:bodyPr wrap="square" lIns="0" rIns="0" tIns="0" bIns="0" anchor="t">
            <a:spAutoFit/>
          </a:bodyPr>
          <a:lstStyle/>
          <a:p>
            <a:pPr algn="l">
              <a:spcBef>
                <a:spcPts val="0"/>
              </a:spcBef>
              <a:spcAft>
                <a:spcPts val="0"/>
              </a:spcAft>
            </a:pPr>
            <a:r>
              <a:rPr sz="1250" b="1" i="0">
                <a:solidFill>
                  <a:srgbClr val="0B3C78"/>
                </a:solidFill>
                <a:latin typeface="Calibri"/>
              </a:rPr>
              <a:t>Deployment path</a:t>
            </a:r>
          </a:p>
        </p:txBody>
      </p:sp>
      <p:sp>
        <p:nvSpPr>
          <p:cNvPr id="17426" name="Rounded Rectangle 17425"/>
          <p:cNvSpPr/>
          <p:nvPr/>
        </p:nvSpPr>
        <p:spPr>
          <a:xfrm>
            <a:off x="329184" y="5413248"/>
            <a:ext cx="1755648" cy="841248"/>
          </a:xfrm>
          <a:prstGeom prst="roundRect">
            <a:avLst>
              <a:gd name="adj" fmla="val 12000"/>
            </a:avLst>
          </a:prstGeom>
          <a:solidFill>
            <a:srgbClr val="F4F7FB"/>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7" name="TextBox 17426"/>
          <p:cNvSpPr txBox="1"/>
          <p:nvPr/>
        </p:nvSpPr>
        <p:spPr>
          <a:xfrm>
            <a:off x="438912" y="5477256"/>
            <a:ext cx="1554480" cy="201168"/>
          </a:xfrm>
          <a:prstGeom prst="rect">
            <a:avLst/>
          </a:prstGeom>
          <a:noFill/>
        </p:spPr>
        <p:txBody>
          <a:bodyPr wrap="square" lIns="0" rIns="0" tIns="0" bIns="0" anchor="t">
            <a:spAutoFit/>
          </a:bodyPr>
          <a:lstStyle/>
          <a:p>
            <a:pPr algn="l">
              <a:lnSpc>
                <a:spcPct val="90000"/>
              </a:lnSpc>
              <a:spcBef>
                <a:spcPts val="0"/>
              </a:spcBef>
              <a:spcAft>
                <a:spcPts val="0"/>
              </a:spcAft>
            </a:pPr>
            <a:r>
              <a:rPr sz="950" b="1" i="0">
                <a:solidFill>
                  <a:srgbClr val="15803D"/>
                </a:solidFill>
                <a:latin typeface="Calibri"/>
              </a:rPr>
              <a:t>NOW</a:t>
            </a:r>
          </a:p>
        </p:txBody>
      </p:sp>
      <p:sp>
        <p:nvSpPr>
          <p:cNvPr id="17428" name="TextBox 17427"/>
          <p:cNvSpPr txBox="1"/>
          <p:nvPr/>
        </p:nvSpPr>
        <p:spPr>
          <a:xfrm>
            <a:off x="438912" y="5687568"/>
            <a:ext cx="1554480" cy="512064"/>
          </a:xfrm>
          <a:prstGeom prst="rect">
            <a:avLst/>
          </a:prstGeom>
          <a:noFill/>
        </p:spPr>
        <p:txBody>
          <a:bodyPr wrap="square" lIns="0" rIns="0" tIns="0" bIns="0" anchor="t">
            <a:spAutoFit/>
          </a:bodyPr>
          <a:lstStyle/>
          <a:p>
            <a:pPr algn="l">
              <a:lnSpc>
                <a:spcPct val="92000"/>
              </a:lnSpc>
              <a:spcBef>
                <a:spcPts val="0"/>
              </a:spcBef>
              <a:spcAft>
                <a:spcPts val="0"/>
              </a:spcAft>
            </a:pPr>
            <a:r>
              <a:rPr sz="840" b="0" i="0">
                <a:solidFill>
                  <a:srgbClr val="52647C"/>
                </a:solidFill>
                <a:latin typeface="Calibri"/>
              </a:rPr>
              <a:t>Deployed. One district grid, seeded and demonstrable.</a:t>
            </a:r>
          </a:p>
        </p:txBody>
      </p:sp>
      <p:sp>
        <p:nvSpPr>
          <p:cNvPr id="17429" name="Rounded Rectangle 17428"/>
          <p:cNvSpPr/>
          <p:nvPr/>
        </p:nvSpPr>
        <p:spPr>
          <a:xfrm>
            <a:off x="2240279" y="5413248"/>
            <a:ext cx="1755648" cy="841248"/>
          </a:xfrm>
          <a:prstGeom prst="roundRect">
            <a:avLst>
              <a:gd name="adj" fmla="val 12000"/>
            </a:avLst>
          </a:prstGeom>
          <a:solidFill>
            <a:srgbClr val="F4F7F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0" name="TextBox 17429"/>
          <p:cNvSpPr txBox="1"/>
          <p:nvPr/>
        </p:nvSpPr>
        <p:spPr>
          <a:xfrm>
            <a:off x="2350008" y="5477256"/>
            <a:ext cx="1554480" cy="201168"/>
          </a:xfrm>
          <a:prstGeom prst="rect">
            <a:avLst/>
          </a:prstGeom>
          <a:noFill/>
        </p:spPr>
        <p:txBody>
          <a:bodyPr wrap="square" lIns="0" rIns="0" tIns="0" bIns="0" anchor="t">
            <a:spAutoFit/>
          </a:bodyPr>
          <a:lstStyle/>
          <a:p>
            <a:pPr algn="l">
              <a:lnSpc>
                <a:spcPct val="90000"/>
              </a:lnSpc>
              <a:spcBef>
                <a:spcPts val="0"/>
              </a:spcBef>
              <a:spcAft>
                <a:spcPts val="0"/>
              </a:spcAft>
            </a:pPr>
            <a:r>
              <a:rPr sz="950" b="1" i="0">
                <a:solidFill>
                  <a:srgbClr val="B45309"/>
                </a:solidFill>
                <a:latin typeface="Calibri"/>
              </a:rPr>
              <a:t>NEXT</a:t>
            </a:r>
          </a:p>
        </p:txBody>
      </p:sp>
      <p:sp>
        <p:nvSpPr>
          <p:cNvPr id="17431" name="TextBox 17430"/>
          <p:cNvSpPr txBox="1"/>
          <p:nvPr/>
        </p:nvSpPr>
        <p:spPr>
          <a:xfrm>
            <a:off x="2350008" y="5687568"/>
            <a:ext cx="1554480" cy="512064"/>
          </a:xfrm>
          <a:prstGeom prst="rect">
            <a:avLst/>
          </a:prstGeom>
          <a:noFill/>
        </p:spPr>
        <p:txBody>
          <a:bodyPr wrap="square" lIns="0" rIns="0" tIns="0" bIns="0" anchor="t">
            <a:spAutoFit/>
          </a:bodyPr>
          <a:lstStyle/>
          <a:p>
            <a:pPr algn="l">
              <a:lnSpc>
                <a:spcPct val="92000"/>
              </a:lnSpc>
              <a:spcBef>
                <a:spcPts val="0"/>
              </a:spcBef>
              <a:spcAft>
                <a:spcPts val="0"/>
              </a:spcAft>
            </a:pPr>
            <a:r>
              <a:rPr sz="840" b="0" i="0">
                <a:solidFill>
                  <a:srgbClr val="52647C"/>
                </a:solidFill>
                <a:latin typeface="Calibri"/>
              </a:rPr>
              <a:t>Practitioner sign-off on the formulary and thresholds.</a:t>
            </a:r>
          </a:p>
        </p:txBody>
      </p:sp>
      <p:sp>
        <p:nvSpPr>
          <p:cNvPr id="17432" name="Rounded Rectangle 17431"/>
          <p:cNvSpPr/>
          <p:nvPr/>
        </p:nvSpPr>
        <p:spPr>
          <a:xfrm>
            <a:off x="4151376" y="5413248"/>
            <a:ext cx="1755648" cy="841248"/>
          </a:xfrm>
          <a:prstGeom prst="roundRect">
            <a:avLst>
              <a:gd name="adj" fmla="val 12000"/>
            </a:avLst>
          </a:prstGeom>
          <a:solidFill>
            <a:srgbClr val="F4F7FB"/>
          </a:solidFill>
          <a:ln w="12700">
            <a:solidFill>
              <a:srgbClr val="0B3C7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3" name="TextBox 17432"/>
          <p:cNvSpPr txBox="1"/>
          <p:nvPr/>
        </p:nvSpPr>
        <p:spPr>
          <a:xfrm>
            <a:off x="4261104" y="5477256"/>
            <a:ext cx="1554480" cy="201168"/>
          </a:xfrm>
          <a:prstGeom prst="rect">
            <a:avLst/>
          </a:prstGeom>
          <a:noFill/>
        </p:spPr>
        <p:txBody>
          <a:bodyPr wrap="square" lIns="0" rIns="0" tIns="0" bIns="0" anchor="t">
            <a:spAutoFit/>
          </a:bodyPr>
          <a:lstStyle/>
          <a:p>
            <a:pPr algn="l">
              <a:lnSpc>
                <a:spcPct val="90000"/>
              </a:lnSpc>
              <a:spcBef>
                <a:spcPts val="0"/>
              </a:spcBef>
              <a:spcAft>
                <a:spcPts val="0"/>
              </a:spcAft>
            </a:pPr>
            <a:r>
              <a:rPr sz="950" b="1" i="0">
                <a:solidFill>
                  <a:srgbClr val="0B3C78"/>
                </a:solidFill>
                <a:latin typeface="Calibri"/>
              </a:rPr>
              <a:t>THEN</a:t>
            </a:r>
          </a:p>
        </p:txBody>
      </p:sp>
      <p:sp>
        <p:nvSpPr>
          <p:cNvPr id="17434" name="TextBox 17433"/>
          <p:cNvSpPr txBox="1"/>
          <p:nvPr/>
        </p:nvSpPr>
        <p:spPr>
          <a:xfrm>
            <a:off x="4261104" y="5687568"/>
            <a:ext cx="1554480" cy="512064"/>
          </a:xfrm>
          <a:prstGeom prst="rect">
            <a:avLst/>
          </a:prstGeom>
          <a:noFill/>
        </p:spPr>
        <p:txBody>
          <a:bodyPr wrap="square" lIns="0" rIns="0" tIns="0" bIns="0" anchor="t">
            <a:spAutoFit/>
          </a:bodyPr>
          <a:lstStyle/>
          <a:p>
            <a:pPr algn="l">
              <a:lnSpc>
                <a:spcPct val="92000"/>
              </a:lnSpc>
              <a:spcBef>
                <a:spcPts val="0"/>
              </a:spcBef>
              <a:spcAft>
                <a:spcPts val="0"/>
              </a:spcAft>
            </a:pPr>
            <a:r>
              <a:rPr sz="840" b="0" i="0">
                <a:solidFill>
                  <a:srgbClr val="52647C"/>
                </a:solidFill>
                <a:latin typeface="Calibri"/>
              </a:rPr>
              <a:t>ABDM adapter, referral closure, follow-up due-list.</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00" b="1" i="0">
                <a:solidFill>
                  <a:srgbClr val="FFFFFF"/>
                </a:solidFill>
                <a:latin typeface="Calibri"/>
              </a:rPr>
              <a:t>UNFILTERED
ENGINEERS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29184" y="1133856"/>
            <a:ext cx="7315200" cy="237744"/>
          </a:xfrm>
          <a:prstGeom prst="rect">
            <a:avLst/>
          </a:prstGeom>
          <a:noFill/>
        </p:spPr>
        <p:txBody>
          <a:bodyPr wrap="square" lIns="0" rIns="0" tIns="0" bIns="0" anchor="t">
            <a:spAutoFit/>
          </a:bodyPr>
          <a:lstStyle/>
          <a:p>
            <a:pPr algn="l">
              <a:spcBef>
                <a:spcPts val="0"/>
              </a:spcBef>
              <a:spcAft>
                <a:spcPts val="0"/>
              </a:spcAft>
            </a:pPr>
            <a:r>
              <a:rPr sz="1250" b="1" i="0">
                <a:solidFill>
                  <a:srgbClr val="0B3C78"/>
                </a:solidFill>
                <a:latin typeface="Calibri"/>
              </a:rPr>
              <a:t>Potential impact on the target audience</a:t>
            </a:r>
          </a:p>
        </p:txBody>
      </p:sp>
      <p:pic>
        <p:nvPicPr>
          <p:cNvPr id="17411" name="Picture 17410" descr="fig_impact.png"/>
          <p:cNvPicPr>
            <a:picLocks noChangeAspect="1"/>
          </p:cNvPicPr>
          <p:nvPr/>
        </p:nvPicPr>
        <p:blipFill>
          <a:blip r:embed="rId4"/>
          <a:stretch>
            <a:fillRect/>
          </a:stretch>
        </p:blipFill>
        <p:spPr>
          <a:xfrm>
            <a:off x="329184" y="1408176"/>
            <a:ext cx="11521440" cy="2926446"/>
          </a:xfrm>
          <a:prstGeom prst="rect">
            <a:avLst/>
          </a:prstGeom>
        </p:spPr>
      </p:pic>
      <p:sp>
        <p:nvSpPr>
          <p:cNvPr id="17412" name="Rounded Rectangle 17411"/>
          <p:cNvSpPr/>
          <p:nvPr/>
        </p:nvSpPr>
        <p:spPr>
          <a:xfrm>
            <a:off x="329184" y="4498848"/>
            <a:ext cx="2761488" cy="713232"/>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3" name="TextBox 17412"/>
          <p:cNvSpPr txBox="1"/>
          <p:nvPr/>
        </p:nvSpPr>
        <p:spPr>
          <a:xfrm>
            <a:off x="448056" y="4562856"/>
            <a:ext cx="2542032" cy="274320"/>
          </a:xfrm>
          <a:prstGeom prst="rect">
            <a:avLst/>
          </a:prstGeom>
          <a:noFill/>
        </p:spPr>
        <p:txBody>
          <a:bodyPr wrap="square" lIns="0" rIns="0" tIns="0" bIns="0" anchor="t">
            <a:spAutoFit/>
          </a:bodyPr>
          <a:lstStyle/>
          <a:p>
            <a:pPr algn="l">
              <a:lnSpc>
                <a:spcPct val="90000"/>
              </a:lnSpc>
              <a:spcBef>
                <a:spcPts val="0"/>
              </a:spcBef>
              <a:spcAft>
                <a:spcPts val="0"/>
              </a:spcAft>
            </a:pPr>
            <a:r>
              <a:rPr sz="1700" b="1" i="0">
                <a:solidFill>
                  <a:srgbClr val="0B3C78"/>
                </a:solidFill>
                <a:latin typeface="Calibri"/>
              </a:rPr>
              <a:t>79.9%   </a:t>
            </a:r>
            <a:r>
              <a:rPr sz="840" b="0" i="0">
                <a:solidFill>
                  <a:srgbClr val="0F2037"/>
                </a:solidFill>
                <a:latin typeface="Calibri"/>
              </a:rPr>
              <a:t>specialist shortfall at rural CHCs</a:t>
            </a:r>
          </a:p>
        </p:txBody>
      </p:sp>
      <p:sp>
        <p:nvSpPr>
          <p:cNvPr id="17414" name="TextBox 17413"/>
          <p:cNvSpPr txBox="1"/>
          <p:nvPr/>
        </p:nvSpPr>
        <p:spPr>
          <a:xfrm>
            <a:off x="448056" y="4956048"/>
            <a:ext cx="2542032" cy="201168"/>
          </a:xfrm>
          <a:prstGeom prst="rect">
            <a:avLst/>
          </a:prstGeom>
          <a:noFill/>
        </p:spPr>
        <p:txBody>
          <a:bodyPr wrap="square" lIns="0" rIns="0" tIns="0" bIns="0" anchor="t">
            <a:spAutoFit/>
          </a:bodyPr>
          <a:lstStyle/>
          <a:p>
            <a:pPr algn="l">
              <a:lnSpc>
                <a:spcPct val="90000"/>
              </a:lnSpc>
              <a:spcBef>
                <a:spcPts val="0"/>
              </a:spcBef>
              <a:spcAft>
                <a:spcPts val="0"/>
              </a:spcAft>
            </a:pPr>
            <a:r>
              <a:rPr sz="740" b="0" i="1">
                <a:solidFill>
                  <a:srgbClr val="52647C"/>
                </a:solidFill>
                <a:latin typeface="Calibri"/>
              </a:rPr>
              <a:t>MoHFW, Health Dynamics of India 2022-23</a:t>
            </a:r>
          </a:p>
        </p:txBody>
      </p:sp>
      <p:sp>
        <p:nvSpPr>
          <p:cNvPr id="17415" name="Rounded Rectangle 17414"/>
          <p:cNvSpPr/>
          <p:nvPr/>
        </p:nvSpPr>
        <p:spPr>
          <a:xfrm>
            <a:off x="3246120" y="4498848"/>
            <a:ext cx="2761488" cy="713232"/>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6" name="TextBox 17415"/>
          <p:cNvSpPr txBox="1"/>
          <p:nvPr/>
        </p:nvSpPr>
        <p:spPr>
          <a:xfrm>
            <a:off x="3364991" y="4562856"/>
            <a:ext cx="2542032" cy="274320"/>
          </a:xfrm>
          <a:prstGeom prst="rect">
            <a:avLst/>
          </a:prstGeom>
          <a:noFill/>
        </p:spPr>
        <p:txBody>
          <a:bodyPr wrap="square" lIns="0" rIns="0" tIns="0" bIns="0" anchor="t">
            <a:spAutoFit/>
          </a:bodyPr>
          <a:lstStyle/>
          <a:p>
            <a:pPr algn="l">
              <a:lnSpc>
                <a:spcPct val="90000"/>
              </a:lnSpc>
              <a:spcBef>
                <a:spcPts val="0"/>
              </a:spcBef>
              <a:spcAft>
                <a:spcPts val="0"/>
              </a:spcAft>
            </a:pPr>
            <a:r>
              <a:rPr sz="1700" b="1" i="0">
                <a:solidFill>
                  <a:srgbClr val="0B3C78"/>
                </a:solidFill>
                <a:latin typeface="Calibri"/>
              </a:rPr>
              <a:t>54.2%   </a:t>
            </a:r>
            <a:r>
              <a:rPr sz="840" b="0" i="0">
                <a:solidFill>
                  <a:srgbClr val="0F2037"/>
                </a:solidFill>
                <a:latin typeface="Calibri"/>
              </a:rPr>
              <a:t>of Maharashtra women 15-49 are anaemic</a:t>
            </a:r>
          </a:p>
        </p:txBody>
      </p:sp>
      <p:sp>
        <p:nvSpPr>
          <p:cNvPr id="17417" name="TextBox 17416"/>
          <p:cNvSpPr txBox="1"/>
          <p:nvPr/>
        </p:nvSpPr>
        <p:spPr>
          <a:xfrm>
            <a:off x="3364991" y="4956048"/>
            <a:ext cx="2542032" cy="201168"/>
          </a:xfrm>
          <a:prstGeom prst="rect">
            <a:avLst/>
          </a:prstGeom>
          <a:noFill/>
        </p:spPr>
        <p:txBody>
          <a:bodyPr wrap="square" lIns="0" rIns="0" tIns="0" bIns="0" anchor="t">
            <a:spAutoFit/>
          </a:bodyPr>
          <a:lstStyle/>
          <a:p>
            <a:pPr algn="l">
              <a:lnSpc>
                <a:spcPct val="90000"/>
              </a:lnSpc>
              <a:spcBef>
                <a:spcPts val="0"/>
              </a:spcBef>
              <a:spcAft>
                <a:spcPts val="0"/>
              </a:spcAft>
            </a:pPr>
            <a:r>
              <a:rPr sz="740" b="0" i="1">
                <a:solidFill>
                  <a:srgbClr val="52647C"/>
                </a:solidFill>
                <a:latin typeface="Calibri"/>
              </a:rPr>
              <a:t>NFHS-5 Maharashtra fact sheet</a:t>
            </a:r>
          </a:p>
        </p:txBody>
      </p:sp>
      <p:sp>
        <p:nvSpPr>
          <p:cNvPr id="17418" name="Rounded Rectangle 17417"/>
          <p:cNvSpPr/>
          <p:nvPr/>
        </p:nvSpPr>
        <p:spPr>
          <a:xfrm>
            <a:off x="6163056" y="4498848"/>
            <a:ext cx="2761488" cy="713232"/>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9" name="TextBox 17418"/>
          <p:cNvSpPr txBox="1"/>
          <p:nvPr/>
        </p:nvSpPr>
        <p:spPr>
          <a:xfrm>
            <a:off x="6281928" y="4562856"/>
            <a:ext cx="2542032" cy="274320"/>
          </a:xfrm>
          <a:prstGeom prst="rect">
            <a:avLst/>
          </a:prstGeom>
          <a:noFill/>
        </p:spPr>
        <p:txBody>
          <a:bodyPr wrap="square" lIns="0" rIns="0" tIns="0" bIns="0" anchor="t">
            <a:spAutoFit/>
          </a:bodyPr>
          <a:lstStyle/>
          <a:p>
            <a:pPr algn="l">
              <a:lnSpc>
                <a:spcPct val="90000"/>
              </a:lnSpc>
              <a:spcBef>
                <a:spcPts val="0"/>
              </a:spcBef>
              <a:spcAft>
                <a:spcPts val="0"/>
              </a:spcAft>
            </a:pPr>
            <a:r>
              <a:rPr sz="1700" b="1" i="0">
                <a:solidFill>
                  <a:srgbClr val="0B3C78"/>
                </a:solidFill>
                <a:latin typeface="Calibri"/>
              </a:rPr>
              <a:t>~34%   </a:t>
            </a:r>
            <a:r>
              <a:rPr sz="840" b="0" i="0">
                <a:solidFill>
                  <a:srgbClr val="0F2037"/>
                </a:solidFill>
                <a:latin typeface="Calibri"/>
              </a:rPr>
              <a:t>of referred patients never complete referral</a:t>
            </a:r>
          </a:p>
        </p:txBody>
      </p:sp>
      <p:sp>
        <p:nvSpPr>
          <p:cNvPr id="17420" name="TextBox 17419"/>
          <p:cNvSpPr txBox="1"/>
          <p:nvPr/>
        </p:nvSpPr>
        <p:spPr>
          <a:xfrm>
            <a:off x="6281928" y="4956048"/>
            <a:ext cx="2542032" cy="201168"/>
          </a:xfrm>
          <a:prstGeom prst="rect">
            <a:avLst/>
          </a:prstGeom>
          <a:noFill/>
        </p:spPr>
        <p:txBody>
          <a:bodyPr wrap="square" lIns="0" rIns="0" tIns="0" bIns="0" anchor="t">
            <a:spAutoFit/>
          </a:bodyPr>
          <a:lstStyle/>
          <a:p>
            <a:pPr algn="l">
              <a:lnSpc>
                <a:spcPct val="90000"/>
              </a:lnSpc>
              <a:spcBef>
                <a:spcPts val="0"/>
              </a:spcBef>
              <a:spcAft>
                <a:spcPts val="0"/>
              </a:spcAft>
            </a:pPr>
            <a:r>
              <a:rPr sz="740" b="0" i="1">
                <a:solidFill>
                  <a:srgbClr val="52647C"/>
                </a:solidFill>
                <a:latin typeface="Calibri"/>
              </a:rPr>
              <a:t>Chennai referral cohort study</a:t>
            </a:r>
          </a:p>
        </p:txBody>
      </p:sp>
      <p:sp>
        <p:nvSpPr>
          <p:cNvPr id="17421" name="Rounded Rectangle 17420"/>
          <p:cNvSpPr/>
          <p:nvPr/>
        </p:nvSpPr>
        <p:spPr>
          <a:xfrm>
            <a:off x="9079992" y="4498848"/>
            <a:ext cx="2761488" cy="713232"/>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2" name="TextBox 17421"/>
          <p:cNvSpPr txBox="1"/>
          <p:nvPr/>
        </p:nvSpPr>
        <p:spPr>
          <a:xfrm>
            <a:off x="9198864" y="4562856"/>
            <a:ext cx="2542032" cy="274320"/>
          </a:xfrm>
          <a:prstGeom prst="rect">
            <a:avLst/>
          </a:prstGeom>
          <a:noFill/>
        </p:spPr>
        <p:txBody>
          <a:bodyPr wrap="square" lIns="0" rIns="0" tIns="0" bIns="0" anchor="t">
            <a:spAutoFit/>
          </a:bodyPr>
          <a:lstStyle/>
          <a:p>
            <a:pPr algn="l">
              <a:lnSpc>
                <a:spcPct val="90000"/>
              </a:lnSpc>
              <a:spcBef>
                <a:spcPts val="0"/>
              </a:spcBef>
              <a:spcAft>
                <a:spcPts val="0"/>
              </a:spcAft>
            </a:pPr>
            <a:r>
              <a:rPr sz="1700" b="1" i="0">
                <a:solidFill>
                  <a:srgbClr val="0B3C78"/>
                </a:solidFill>
                <a:latin typeface="Calibri"/>
              </a:rPr>
              <a:t>43 cr   </a:t>
            </a:r>
            <a:r>
              <a:rPr sz="840" b="0" i="0">
                <a:solidFill>
                  <a:srgbClr val="0F2037"/>
                </a:solidFill>
                <a:latin typeface="Calibri"/>
              </a:rPr>
              <a:t>eSanjeevani consultations — we plug into it</a:t>
            </a:r>
          </a:p>
        </p:txBody>
      </p:sp>
      <p:sp>
        <p:nvSpPr>
          <p:cNvPr id="17423" name="TextBox 17422"/>
          <p:cNvSpPr txBox="1"/>
          <p:nvPr/>
        </p:nvSpPr>
        <p:spPr>
          <a:xfrm>
            <a:off x="9198864" y="4956048"/>
            <a:ext cx="2542032" cy="201168"/>
          </a:xfrm>
          <a:prstGeom prst="rect">
            <a:avLst/>
          </a:prstGeom>
          <a:noFill/>
        </p:spPr>
        <p:txBody>
          <a:bodyPr wrap="square" lIns="0" rIns="0" tIns="0" bIns="0" anchor="t">
            <a:spAutoFit/>
          </a:bodyPr>
          <a:lstStyle/>
          <a:p>
            <a:pPr algn="l">
              <a:lnSpc>
                <a:spcPct val="90000"/>
              </a:lnSpc>
              <a:spcBef>
                <a:spcPts val="0"/>
              </a:spcBef>
              <a:spcAft>
                <a:spcPts val="0"/>
              </a:spcAft>
            </a:pPr>
            <a:r>
              <a:rPr sz="740" b="0" i="1">
                <a:solidFill>
                  <a:srgbClr val="52647C"/>
                </a:solidFill>
                <a:latin typeface="Calibri"/>
              </a:rPr>
              <a:t>National Health Authority, 2025</a:t>
            </a:r>
          </a:p>
        </p:txBody>
      </p:sp>
      <p:sp>
        <p:nvSpPr>
          <p:cNvPr id="17424" name="TextBox 17423"/>
          <p:cNvSpPr txBox="1"/>
          <p:nvPr/>
        </p:nvSpPr>
        <p:spPr>
          <a:xfrm>
            <a:off x="329184" y="5358384"/>
            <a:ext cx="11521440" cy="237744"/>
          </a:xfrm>
          <a:prstGeom prst="rect">
            <a:avLst/>
          </a:prstGeom>
          <a:noFill/>
        </p:spPr>
        <p:txBody>
          <a:bodyPr wrap="square" lIns="0" rIns="0" tIns="0" bIns="0" anchor="t">
            <a:spAutoFit/>
          </a:bodyPr>
          <a:lstStyle/>
          <a:p>
            <a:pPr algn="l">
              <a:spcBef>
                <a:spcPts val="0"/>
              </a:spcBef>
              <a:spcAft>
                <a:spcPts val="0"/>
              </a:spcAft>
            </a:pPr>
            <a:r>
              <a:rPr sz="1250" b="1" i="0">
                <a:solidFill>
                  <a:srgbClr val="0B3C78"/>
                </a:solidFill>
                <a:latin typeface="Calibri"/>
              </a:rPr>
              <a:t>Benefits of the solution</a:t>
            </a:r>
          </a:p>
        </p:txBody>
      </p:sp>
      <p:sp>
        <p:nvSpPr>
          <p:cNvPr id="17425" name="Rounded Rectangle 17424"/>
          <p:cNvSpPr/>
          <p:nvPr/>
        </p:nvSpPr>
        <p:spPr>
          <a:xfrm>
            <a:off x="329184" y="5596128"/>
            <a:ext cx="3675887" cy="694944"/>
          </a:xfrm>
          <a:prstGeom prst="roundRect">
            <a:avLst>
              <a:gd name="adj" fmla="val 10000"/>
            </a:avLst>
          </a:prstGeom>
          <a:solidFill>
            <a:srgbClr val="F4F7FB"/>
          </a:solidFill>
          <a:ln w="9525">
            <a:solidFill>
              <a:srgbClr val="CDD8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6" name="TextBox 17425"/>
          <p:cNvSpPr txBox="1"/>
          <p:nvPr/>
        </p:nvSpPr>
        <p:spPr>
          <a:xfrm>
            <a:off x="448056" y="5669280"/>
            <a:ext cx="3474720" cy="237744"/>
          </a:xfrm>
          <a:prstGeom prst="rect">
            <a:avLst/>
          </a:prstGeom>
          <a:noFill/>
        </p:spPr>
        <p:txBody>
          <a:bodyPr wrap="square" lIns="0" rIns="0" tIns="0" bIns="0" anchor="t">
            <a:spAutoFit/>
          </a:bodyPr>
          <a:lstStyle/>
          <a:p>
            <a:pPr algn="l">
              <a:spcBef>
                <a:spcPts val="0"/>
              </a:spcBef>
              <a:spcAft>
                <a:spcPts val="0"/>
              </a:spcAft>
            </a:pPr>
            <a:r>
              <a:rPr sz="1000" b="1" i="0">
                <a:solidFill>
                  <a:srgbClr val="15803D"/>
                </a:solidFill>
                <a:latin typeface="Calibri"/>
              </a:rPr>
              <a:t>Social</a:t>
            </a:r>
          </a:p>
        </p:txBody>
      </p:sp>
      <p:sp>
        <p:nvSpPr>
          <p:cNvPr id="17427" name="TextBox 17426"/>
          <p:cNvSpPr txBox="1"/>
          <p:nvPr/>
        </p:nvSpPr>
        <p:spPr>
          <a:xfrm>
            <a:off x="448056" y="5852160"/>
            <a:ext cx="3438144" cy="201168"/>
          </a:xfrm>
          <a:prstGeom prst="rect">
            <a:avLst/>
          </a:prstGeom>
          <a:noFill/>
        </p:spPr>
        <p:txBody>
          <a:bodyPr wrap="square" lIns="0" rIns="0" tIns="0" bIns="0" anchor="t">
            <a:spAutoFit/>
          </a:bodyPr>
          <a:lstStyle/>
          <a:p>
            <a:pPr algn="l">
              <a:lnSpc>
                <a:spcPct val="90000"/>
              </a:lnSpc>
              <a:spcBef>
                <a:spcPts val="0"/>
              </a:spcBef>
              <a:spcAft>
                <a:spcPts val="0"/>
              </a:spcAft>
            </a:pPr>
            <a:r>
              <a:rPr sz="819" b="1" i="0">
                <a:solidFill>
                  <a:srgbClr val="0F2037"/>
                </a:solidFill>
                <a:latin typeface="Calibri"/>
              </a:rPr>
              <a:t>Specialist reach  </a:t>
            </a:r>
            <a:r>
              <a:rPr sz="819" b="0" i="0">
                <a:solidFill>
                  <a:srgbClr val="52647C"/>
                </a:solidFill>
                <a:latin typeface="Calibri"/>
              </a:rPr>
              <a:t>a 79.9% shortfall becomes a scheduling problem, not a travel one.</a:t>
            </a:r>
          </a:p>
        </p:txBody>
      </p:sp>
      <p:sp>
        <p:nvSpPr>
          <p:cNvPr id="17428" name="TextBox 17427"/>
          <p:cNvSpPr txBox="1"/>
          <p:nvPr/>
        </p:nvSpPr>
        <p:spPr>
          <a:xfrm>
            <a:off x="448056" y="6067044"/>
            <a:ext cx="3438144" cy="201168"/>
          </a:xfrm>
          <a:prstGeom prst="rect">
            <a:avLst/>
          </a:prstGeom>
          <a:noFill/>
        </p:spPr>
        <p:txBody>
          <a:bodyPr wrap="square" lIns="0" rIns="0" tIns="0" bIns="0" anchor="t">
            <a:spAutoFit/>
          </a:bodyPr>
          <a:lstStyle/>
          <a:p>
            <a:pPr algn="l">
              <a:lnSpc>
                <a:spcPct val="90000"/>
              </a:lnSpc>
              <a:spcBef>
                <a:spcPts val="0"/>
              </a:spcBef>
              <a:spcAft>
                <a:spcPts val="0"/>
              </a:spcAft>
            </a:pPr>
            <a:r>
              <a:rPr sz="819" b="1" i="0">
                <a:solidFill>
                  <a:srgbClr val="0F2037"/>
                </a:solidFill>
                <a:latin typeface="Calibri"/>
              </a:rPr>
              <a:t>Equity within the state  </a:t>
            </a:r>
            <a:r>
              <a:rPr sz="819" b="0" i="0">
                <a:solidFill>
                  <a:srgbClr val="52647C"/>
                </a:solidFill>
                <a:latin typeface="Calibri"/>
              </a:rPr>
              <a:t>41.2% in Sindhudurg to 68.2% in Gadchiroli — one protocol.</a:t>
            </a:r>
          </a:p>
        </p:txBody>
      </p:sp>
      <p:sp>
        <p:nvSpPr>
          <p:cNvPr id="17429" name="Rounded Rectangle 17428"/>
          <p:cNvSpPr/>
          <p:nvPr/>
        </p:nvSpPr>
        <p:spPr>
          <a:xfrm>
            <a:off x="4206240" y="5596128"/>
            <a:ext cx="3675887" cy="694944"/>
          </a:xfrm>
          <a:prstGeom prst="roundRect">
            <a:avLst>
              <a:gd name="adj" fmla="val 10000"/>
            </a:avLst>
          </a:prstGeom>
          <a:solidFill>
            <a:srgbClr val="F4F7FB"/>
          </a:solidFill>
          <a:ln w="9525">
            <a:solidFill>
              <a:srgbClr val="CDD8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0" name="TextBox 17429"/>
          <p:cNvSpPr txBox="1"/>
          <p:nvPr/>
        </p:nvSpPr>
        <p:spPr>
          <a:xfrm>
            <a:off x="4325112" y="5669280"/>
            <a:ext cx="3474720" cy="237744"/>
          </a:xfrm>
          <a:prstGeom prst="rect">
            <a:avLst/>
          </a:prstGeom>
          <a:noFill/>
        </p:spPr>
        <p:txBody>
          <a:bodyPr wrap="square" lIns="0" rIns="0" tIns="0" bIns="0" anchor="t">
            <a:spAutoFit/>
          </a:bodyPr>
          <a:lstStyle/>
          <a:p>
            <a:pPr algn="l">
              <a:spcBef>
                <a:spcPts val="0"/>
              </a:spcBef>
              <a:spcAft>
                <a:spcPts val="0"/>
              </a:spcAft>
            </a:pPr>
            <a:r>
              <a:rPr sz="1000" b="1" i="0">
                <a:solidFill>
                  <a:srgbClr val="0B3C78"/>
                </a:solidFill>
                <a:latin typeface="Calibri"/>
              </a:rPr>
              <a:t>Economic</a:t>
            </a:r>
          </a:p>
        </p:txBody>
      </p:sp>
      <p:sp>
        <p:nvSpPr>
          <p:cNvPr id="17431" name="TextBox 17430"/>
          <p:cNvSpPr txBox="1"/>
          <p:nvPr/>
        </p:nvSpPr>
        <p:spPr>
          <a:xfrm>
            <a:off x="4325112" y="5852160"/>
            <a:ext cx="3438144" cy="201168"/>
          </a:xfrm>
          <a:prstGeom prst="rect">
            <a:avLst/>
          </a:prstGeom>
          <a:noFill/>
        </p:spPr>
        <p:txBody>
          <a:bodyPr wrap="square" lIns="0" rIns="0" tIns="0" bIns="0" anchor="t">
            <a:spAutoFit/>
          </a:bodyPr>
          <a:lstStyle/>
          <a:p>
            <a:pPr algn="l">
              <a:lnSpc>
                <a:spcPct val="90000"/>
              </a:lnSpc>
              <a:spcBef>
                <a:spcPts val="0"/>
              </a:spcBef>
              <a:spcAft>
                <a:spcPts val="0"/>
              </a:spcAft>
            </a:pPr>
            <a:r>
              <a:rPr sz="819" b="1" i="0">
                <a:solidFill>
                  <a:srgbClr val="0F2037"/>
                </a:solidFill>
                <a:latin typeface="Calibri"/>
              </a:rPr>
              <a:t>Household cost  </a:t>
            </a:r>
            <a:r>
              <a:rPr sz="819" b="0" i="0">
                <a:solidFill>
                  <a:srgbClr val="52647C"/>
                </a:solidFill>
                <a:latin typeface="Calibri"/>
              </a:rPr>
              <a:t>68% of rural health spending is out of pocket.</a:t>
            </a:r>
          </a:p>
        </p:txBody>
      </p:sp>
      <p:sp>
        <p:nvSpPr>
          <p:cNvPr id="17432" name="TextBox 17431"/>
          <p:cNvSpPr txBox="1"/>
          <p:nvPr/>
        </p:nvSpPr>
        <p:spPr>
          <a:xfrm>
            <a:off x="4325112" y="6067044"/>
            <a:ext cx="3438144" cy="201168"/>
          </a:xfrm>
          <a:prstGeom prst="rect">
            <a:avLst/>
          </a:prstGeom>
          <a:noFill/>
        </p:spPr>
        <p:txBody>
          <a:bodyPr wrap="square" lIns="0" rIns="0" tIns="0" bIns="0" anchor="t">
            <a:spAutoFit/>
          </a:bodyPr>
          <a:lstStyle/>
          <a:p>
            <a:pPr algn="l">
              <a:lnSpc>
                <a:spcPct val="90000"/>
              </a:lnSpc>
              <a:spcBef>
                <a:spcPts val="0"/>
              </a:spcBef>
              <a:spcAft>
                <a:spcPts val="0"/>
              </a:spcAft>
            </a:pPr>
            <a:r>
              <a:rPr sz="819" b="1" i="0">
                <a:solidFill>
                  <a:srgbClr val="0F2037"/>
                </a:solidFill>
                <a:latin typeface="Calibri"/>
              </a:rPr>
              <a:t>System cost  </a:t>
            </a:r>
            <a:r>
              <a:rPr sz="819" b="0" i="0">
                <a:solidFill>
                  <a:srgbClr val="52647C"/>
                </a:solidFill>
                <a:latin typeface="Calibri"/>
              </a:rPr>
              <a:t>no per-minute video fee, no mapping API, no per-call TTS.</a:t>
            </a:r>
          </a:p>
        </p:txBody>
      </p:sp>
      <p:sp>
        <p:nvSpPr>
          <p:cNvPr id="17433" name="Rounded Rectangle 17432"/>
          <p:cNvSpPr/>
          <p:nvPr/>
        </p:nvSpPr>
        <p:spPr>
          <a:xfrm>
            <a:off x="8083296" y="5596128"/>
            <a:ext cx="3675887" cy="694944"/>
          </a:xfrm>
          <a:prstGeom prst="roundRect">
            <a:avLst>
              <a:gd name="adj" fmla="val 10000"/>
            </a:avLst>
          </a:prstGeom>
          <a:solidFill>
            <a:srgbClr val="F4F7FB"/>
          </a:solidFill>
          <a:ln w="9525">
            <a:solidFill>
              <a:srgbClr val="CDD8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4" name="TextBox 17433"/>
          <p:cNvSpPr txBox="1"/>
          <p:nvPr/>
        </p:nvSpPr>
        <p:spPr>
          <a:xfrm>
            <a:off x="8202168" y="5669280"/>
            <a:ext cx="3474720" cy="237744"/>
          </a:xfrm>
          <a:prstGeom prst="rect">
            <a:avLst/>
          </a:prstGeom>
          <a:noFill/>
        </p:spPr>
        <p:txBody>
          <a:bodyPr wrap="square" lIns="0" rIns="0" tIns="0" bIns="0" anchor="t">
            <a:spAutoFit/>
          </a:bodyPr>
          <a:lstStyle/>
          <a:p>
            <a:pPr algn="l">
              <a:spcBef>
                <a:spcPts val="0"/>
              </a:spcBef>
              <a:spcAft>
                <a:spcPts val="0"/>
              </a:spcAft>
            </a:pPr>
            <a:r>
              <a:rPr sz="1000" b="1" i="0">
                <a:solidFill>
                  <a:srgbClr val="B45309"/>
                </a:solidFill>
                <a:latin typeface="Calibri"/>
              </a:rPr>
              <a:t>Governance</a:t>
            </a:r>
          </a:p>
        </p:txBody>
      </p:sp>
      <p:sp>
        <p:nvSpPr>
          <p:cNvPr id="17435" name="TextBox 17434"/>
          <p:cNvSpPr txBox="1"/>
          <p:nvPr/>
        </p:nvSpPr>
        <p:spPr>
          <a:xfrm>
            <a:off x="8202168" y="5852160"/>
            <a:ext cx="3438144" cy="201168"/>
          </a:xfrm>
          <a:prstGeom prst="rect">
            <a:avLst/>
          </a:prstGeom>
          <a:noFill/>
        </p:spPr>
        <p:txBody>
          <a:bodyPr wrap="square" lIns="0" rIns="0" tIns="0" bIns="0" anchor="t">
            <a:spAutoFit/>
          </a:bodyPr>
          <a:lstStyle/>
          <a:p>
            <a:pPr algn="l">
              <a:lnSpc>
                <a:spcPct val="90000"/>
              </a:lnSpc>
              <a:spcBef>
                <a:spcPts val="0"/>
              </a:spcBef>
              <a:spcAft>
                <a:spcPts val="0"/>
              </a:spcAft>
            </a:pPr>
            <a:r>
              <a:rPr sz="819" b="1" i="0">
                <a:solidFill>
                  <a:srgbClr val="0F2037"/>
                </a:solidFill>
                <a:latin typeface="Calibri"/>
              </a:rPr>
              <a:t>Quality monitoring  </a:t>
            </a:r>
            <a:r>
              <a:rPr sz="819" b="0" i="0">
                <a:solidFill>
                  <a:srgbClr val="52647C"/>
                </a:solidFill>
                <a:latin typeface="Calibri"/>
              </a:rPr>
              <a:t>live visits and risk mix, aggregate only — no identifiers.</a:t>
            </a:r>
          </a:p>
        </p:txBody>
      </p:sp>
      <p:sp>
        <p:nvSpPr>
          <p:cNvPr id="17436" name="TextBox 17435"/>
          <p:cNvSpPr txBox="1"/>
          <p:nvPr/>
        </p:nvSpPr>
        <p:spPr>
          <a:xfrm>
            <a:off x="8202168" y="6067044"/>
            <a:ext cx="3438144" cy="201168"/>
          </a:xfrm>
          <a:prstGeom prst="rect">
            <a:avLst/>
          </a:prstGeom>
          <a:noFill/>
        </p:spPr>
        <p:txBody>
          <a:bodyPr wrap="square" lIns="0" rIns="0" tIns="0" bIns="0" anchor="t">
            <a:spAutoFit/>
          </a:bodyPr>
          <a:lstStyle/>
          <a:p>
            <a:pPr algn="l">
              <a:lnSpc>
                <a:spcPct val="90000"/>
              </a:lnSpc>
              <a:spcBef>
                <a:spcPts val="0"/>
              </a:spcBef>
              <a:spcAft>
                <a:spcPts val="0"/>
              </a:spcAft>
            </a:pPr>
            <a:r>
              <a:rPr sz="819" b="1" i="0">
                <a:solidFill>
                  <a:srgbClr val="0F2037"/>
                </a:solidFill>
                <a:latin typeface="Calibri"/>
              </a:rPr>
              <a:t>Accountability  </a:t>
            </a:r>
            <a:r>
              <a:rPr sz="819" b="0" i="0">
                <a:solidFill>
                  <a:srgbClr val="52647C"/>
                </a:solidFill>
                <a:latin typeface="Calibri"/>
              </a:rPr>
              <a:t>an append-only audit log that no role can edit or delete.</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sz="800" b="1" i="0">
                <a:solidFill>
                  <a:srgbClr val="FFFFFF"/>
                </a:solidFill>
                <a:latin typeface="Calibri"/>
              </a:rPr>
              <a:t>UNFILTERED
ENGINEERS</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29184" y="1133856"/>
            <a:ext cx="5669280" cy="237744"/>
          </a:xfrm>
          <a:prstGeom prst="rect">
            <a:avLst/>
          </a:prstGeom>
          <a:noFill/>
        </p:spPr>
        <p:txBody>
          <a:bodyPr wrap="square" lIns="0" rIns="0" tIns="0" bIns="0" anchor="t">
            <a:spAutoFit/>
          </a:bodyPr>
          <a:lstStyle/>
          <a:p>
            <a:pPr algn="l">
              <a:spcBef>
                <a:spcPts val="0"/>
              </a:spcBef>
              <a:spcAft>
                <a:spcPts val="0"/>
              </a:spcAft>
            </a:pPr>
            <a:r>
              <a:rPr sz="1250" b="1" i="0">
                <a:solidFill>
                  <a:srgbClr val="0B3C78"/>
                </a:solidFill>
                <a:latin typeface="Calibri"/>
              </a:rPr>
              <a:t>Details / Links of the reference and research work</a:t>
            </a:r>
          </a:p>
        </p:txBody>
      </p:sp>
      <p:sp>
        <p:nvSpPr>
          <p:cNvPr id="17411" name="TextBox 17410"/>
          <p:cNvSpPr txBox="1"/>
          <p:nvPr/>
        </p:nvSpPr>
        <p:spPr>
          <a:xfrm>
            <a:off x="329184" y="1444752"/>
            <a:ext cx="5669280" cy="475488"/>
          </a:xfrm>
          <a:prstGeom prst="rect">
            <a:avLst/>
          </a:prstGeom>
          <a:noFill/>
        </p:spPr>
        <p:txBody>
          <a:bodyPr wrap="square" lIns="0" rIns="0" tIns="0" bIns="0" anchor="t">
            <a:spAutoFit/>
          </a:bodyPr>
          <a:lstStyle/>
          <a:p>
            <a:pPr algn="l">
              <a:lnSpc>
                <a:spcPct val="92000"/>
              </a:lnSpc>
              <a:spcBef>
                <a:spcPts val="0"/>
              </a:spcBef>
              <a:spcAft>
                <a:spcPts val="0"/>
              </a:spcAft>
            </a:pPr>
            <a:r>
              <a:rPr sz="930" b="1" i="0">
                <a:solidFill>
                  <a:srgbClr val="0B3C78"/>
                </a:solidFill>
                <a:latin typeface="Calibri"/>
              </a:rPr>
              <a:t>MoHFW  </a:t>
            </a:r>
            <a:r>
              <a:rPr sz="930" b="0" i="0">
                <a:solidFill>
                  <a:srgbClr val="52647C"/>
                </a:solidFill>
                <a:latin typeface="Calibri"/>
              </a:rPr>
              <a:t>Health Dynamics of India (Infrastructure &amp; Human Resources) 2022-23 — 79.9% specialist shortfall at rural CHCs; 1,69,615 sub-centres, 31,882 PHCs, 6,359 CHCs.</a:t>
            </a:r>
          </a:p>
          <a:p>
            <a:pPr algn="l">
              <a:lnSpc>
                <a:spcPct val="92000"/>
              </a:lnSpc>
              <a:spcBef>
                <a:spcPts val="0"/>
              </a:spcBef>
              <a:spcAft>
                <a:spcPts val="0"/>
              </a:spcAft>
            </a:pPr>
            <a:r>
              <a:rPr sz="830" b="0" i="1">
                <a:solidFill>
                  <a:srgbClr val="F39211"/>
                </a:solidFill>
                <a:latin typeface="Calibri"/>
              </a:rPr>
              <a:t>pib.gov.in/PressReleasePage.aspx?PRID=2053070</a:t>
            </a:r>
          </a:p>
        </p:txBody>
      </p:sp>
      <p:sp>
        <p:nvSpPr>
          <p:cNvPr id="17412" name="TextBox 17411"/>
          <p:cNvSpPr txBox="1"/>
          <p:nvPr/>
        </p:nvSpPr>
        <p:spPr>
          <a:xfrm>
            <a:off x="329184" y="1975104"/>
            <a:ext cx="5669280" cy="475488"/>
          </a:xfrm>
          <a:prstGeom prst="rect">
            <a:avLst/>
          </a:prstGeom>
          <a:noFill/>
        </p:spPr>
        <p:txBody>
          <a:bodyPr wrap="square" lIns="0" rIns="0" tIns="0" bIns="0" anchor="t">
            <a:spAutoFit/>
          </a:bodyPr>
          <a:lstStyle/>
          <a:p>
            <a:pPr algn="l">
              <a:lnSpc>
                <a:spcPct val="92000"/>
              </a:lnSpc>
              <a:spcBef>
                <a:spcPts val="0"/>
              </a:spcBef>
              <a:spcAft>
                <a:spcPts val="0"/>
              </a:spcAft>
            </a:pPr>
            <a:r>
              <a:rPr sz="930" b="1" i="0">
                <a:solidFill>
                  <a:srgbClr val="0B3C78"/>
                </a:solidFill>
                <a:latin typeface="Calibri"/>
              </a:rPr>
              <a:t>NSS 75th Round  </a:t>
            </a:r>
            <a:r>
              <a:rPr sz="930" b="0" i="0">
                <a:solidFill>
                  <a:srgbClr val="52647C"/>
                </a:solidFill>
                <a:latin typeface="Calibri"/>
              </a:rPr>
              <a:t>Health in India — 68% of rural health expenditure out of pocket; ₹16,676 average rural spend per hospitalisation; ~86% without insurance.</a:t>
            </a:r>
          </a:p>
          <a:p>
            <a:pPr algn="l">
              <a:lnSpc>
                <a:spcPct val="92000"/>
              </a:lnSpc>
              <a:spcBef>
                <a:spcPts val="0"/>
              </a:spcBef>
              <a:spcAft>
                <a:spcPts val="0"/>
              </a:spcAft>
            </a:pPr>
            <a:r>
              <a:rPr sz="830" b="0" i="1">
                <a:solidFill>
                  <a:srgbClr val="F39211"/>
                </a:solidFill>
                <a:latin typeface="Calibri"/>
              </a:rPr>
              <a:t>mospi.gov.in — Report 586</a:t>
            </a:r>
          </a:p>
        </p:txBody>
      </p:sp>
      <p:sp>
        <p:nvSpPr>
          <p:cNvPr id="17413" name="TextBox 17412"/>
          <p:cNvSpPr txBox="1"/>
          <p:nvPr/>
        </p:nvSpPr>
        <p:spPr>
          <a:xfrm>
            <a:off x="329184" y="2505456"/>
            <a:ext cx="5669280" cy="475488"/>
          </a:xfrm>
          <a:prstGeom prst="rect">
            <a:avLst/>
          </a:prstGeom>
          <a:noFill/>
        </p:spPr>
        <p:txBody>
          <a:bodyPr wrap="square" lIns="0" rIns="0" tIns="0" bIns="0" anchor="t">
            <a:spAutoFit/>
          </a:bodyPr>
          <a:lstStyle/>
          <a:p>
            <a:pPr algn="l">
              <a:lnSpc>
                <a:spcPct val="92000"/>
              </a:lnSpc>
              <a:spcBef>
                <a:spcPts val="0"/>
              </a:spcBef>
              <a:spcAft>
                <a:spcPts val="0"/>
              </a:spcAft>
            </a:pPr>
            <a:r>
              <a:rPr sz="930" b="1" i="0">
                <a:solidFill>
                  <a:srgbClr val="0B3C78"/>
                </a:solidFill>
                <a:latin typeface="Calibri"/>
              </a:rPr>
              <a:t>NFHS-5 Maharashtra  </a:t>
            </a:r>
            <a:r>
              <a:rPr sz="930" b="0" i="0">
                <a:solidFill>
                  <a:srgbClr val="52647C"/>
                </a:solidFill>
                <a:latin typeface="Calibri"/>
              </a:rPr>
              <a:t>State fact sheet (DHS FR374) — anaemia 54.2% in women 15-49 and 68.9% in children 6-59 months; district range 41.2%-68.2%.</a:t>
            </a:r>
          </a:p>
          <a:p>
            <a:pPr algn="l">
              <a:lnSpc>
                <a:spcPct val="92000"/>
              </a:lnSpc>
              <a:spcBef>
                <a:spcPts val="0"/>
              </a:spcBef>
              <a:spcAft>
                <a:spcPts val="0"/>
              </a:spcAft>
            </a:pPr>
            <a:r>
              <a:rPr sz="830" b="0" i="1">
                <a:solidFill>
                  <a:srgbClr val="F39211"/>
                </a:solidFill>
                <a:latin typeface="Calibri"/>
              </a:rPr>
              <a:t>dhsprogram.com/pubs/pdf/FR374/FR374_Maharashtra.pdf</a:t>
            </a:r>
          </a:p>
        </p:txBody>
      </p:sp>
      <p:sp>
        <p:nvSpPr>
          <p:cNvPr id="17414" name="TextBox 17413"/>
          <p:cNvSpPr txBox="1"/>
          <p:nvPr/>
        </p:nvSpPr>
        <p:spPr>
          <a:xfrm>
            <a:off x="329184" y="3035808"/>
            <a:ext cx="5669280" cy="475488"/>
          </a:xfrm>
          <a:prstGeom prst="rect">
            <a:avLst/>
          </a:prstGeom>
          <a:noFill/>
        </p:spPr>
        <p:txBody>
          <a:bodyPr wrap="square" lIns="0" rIns="0" tIns="0" bIns="0" anchor="t">
            <a:spAutoFit/>
          </a:bodyPr>
          <a:lstStyle/>
          <a:p>
            <a:pPr algn="l">
              <a:lnSpc>
                <a:spcPct val="92000"/>
              </a:lnSpc>
              <a:spcBef>
                <a:spcPts val="0"/>
              </a:spcBef>
              <a:spcAft>
                <a:spcPts val="0"/>
              </a:spcAft>
            </a:pPr>
            <a:r>
              <a:rPr sz="930" b="1" i="0">
                <a:solidFill>
                  <a:srgbClr val="0B3C78"/>
                </a:solidFill>
                <a:latin typeface="Calibri"/>
              </a:rPr>
              <a:t>National Health Authority  </a:t>
            </a:r>
            <a:r>
              <a:rPr sz="930" b="0" i="0">
                <a:solidFill>
                  <a:srgbClr val="52647C"/>
                </a:solidFill>
                <a:latin typeface="Calibri"/>
              </a:rPr>
              <a:t>eSanjeevani 43 crore teleconsultations, 1,31,793 spokes; ABDM 100 crore health records linked to ABHA.</a:t>
            </a:r>
          </a:p>
          <a:p>
            <a:pPr algn="l">
              <a:lnSpc>
                <a:spcPct val="92000"/>
              </a:lnSpc>
              <a:spcBef>
                <a:spcPts val="0"/>
              </a:spcBef>
              <a:spcAft>
                <a:spcPts val="0"/>
              </a:spcAft>
            </a:pPr>
            <a:r>
              <a:rPr sz="830" b="0" i="1">
                <a:solidFill>
                  <a:srgbClr val="F39211"/>
                </a:solidFill>
                <a:latin typeface="Calibri"/>
              </a:rPr>
              <a:t>abdm.gov.in  ·  esanjeevani.mohfw.gov.in</a:t>
            </a:r>
          </a:p>
        </p:txBody>
      </p:sp>
      <p:sp>
        <p:nvSpPr>
          <p:cNvPr id="17415" name="TextBox 17414"/>
          <p:cNvSpPr txBox="1"/>
          <p:nvPr/>
        </p:nvSpPr>
        <p:spPr>
          <a:xfrm>
            <a:off x="329184" y="3566160"/>
            <a:ext cx="5669280" cy="475488"/>
          </a:xfrm>
          <a:prstGeom prst="rect">
            <a:avLst/>
          </a:prstGeom>
          <a:noFill/>
        </p:spPr>
        <p:txBody>
          <a:bodyPr wrap="square" lIns="0" rIns="0" tIns="0" bIns="0" anchor="t">
            <a:spAutoFit/>
          </a:bodyPr>
          <a:lstStyle/>
          <a:p>
            <a:pPr algn="l">
              <a:lnSpc>
                <a:spcPct val="92000"/>
              </a:lnSpc>
              <a:spcBef>
                <a:spcPts val="0"/>
              </a:spcBef>
              <a:spcAft>
                <a:spcPts val="0"/>
              </a:spcAft>
            </a:pPr>
            <a:r>
              <a:rPr sz="930" b="1" i="0">
                <a:solidFill>
                  <a:srgbClr val="0B3C78"/>
                </a:solidFill>
                <a:latin typeface="Calibri"/>
              </a:rPr>
              <a:t>WHO / IMNCI · PALS  </a:t>
            </a:r>
            <a:r>
              <a:rPr sz="930" b="0" i="0">
                <a:solidFill>
                  <a:srgbClr val="52647C"/>
                </a:solidFill>
                <a:latin typeface="Calibri"/>
              </a:rPr>
              <a:t>Integrated Management of Neonatal and Childhood Illness — paediatric respiratory bands and dehydration plans B and C encoded in the triage engine.</a:t>
            </a:r>
          </a:p>
          <a:p>
            <a:pPr algn="l">
              <a:lnSpc>
                <a:spcPct val="92000"/>
              </a:lnSpc>
              <a:spcBef>
                <a:spcPts val="0"/>
              </a:spcBef>
              <a:spcAft>
                <a:spcPts val="0"/>
              </a:spcAft>
            </a:pPr>
            <a:r>
              <a:rPr sz="830" b="0" i="1">
                <a:solidFill>
                  <a:srgbClr val="F39211"/>
                </a:solidFill>
                <a:latin typeface="Calibri"/>
              </a:rPr>
              <a:t>who.int/publications — IMNCI</a:t>
            </a:r>
          </a:p>
        </p:txBody>
      </p:sp>
      <p:sp>
        <p:nvSpPr>
          <p:cNvPr id="17416" name="TextBox 17415"/>
          <p:cNvSpPr txBox="1"/>
          <p:nvPr/>
        </p:nvSpPr>
        <p:spPr>
          <a:xfrm>
            <a:off x="329184" y="4096512"/>
            <a:ext cx="5669280" cy="475488"/>
          </a:xfrm>
          <a:prstGeom prst="rect">
            <a:avLst/>
          </a:prstGeom>
          <a:noFill/>
        </p:spPr>
        <p:txBody>
          <a:bodyPr wrap="square" lIns="0" rIns="0" tIns="0" bIns="0" anchor="t">
            <a:spAutoFit/>
          </a:bodyPr>
          <a:lstStyle/>
          <a:p>
            <a:pPr algn="l">
              <a:lnSpc>
                <a:spcPct val="92000"/>
              </a:lnSpc>
              <a:spcBef>
                <a:spcPts val="0"/>
              </a:spcBef>
              <a:spcAft>
                <a:spcPts val="0"/>
              </a:spcAft>
            </a:pPr>
            <a:r>
              <a:rPr sz="930" b="1" i="0">
                <a:solidFill>
                  <a:srgbClr val="0B3C78"/>
                </a:solidFill>
                <a:latin typeface="Calibri"/>
              </a:rPr>
              <a:t>NMC  </a:t>
            </a:r>
            <a:r>
              <a:rPr sz="930" b="0" i="0">
                <a:solidFill>
                  <a:srgbClr val="52647C"/>
                </a:solidFill>
                <a:latin typeface="Calibri"/>
              </a:rPr>
              <a:t>Telemedicine Practice Guidelines 2020 — the prescribing boundary the platform enforces in code.</a:t>
            </a:r>
          </a:p>
          <a:p>
            <a:pPr algn="l">
              <a:lnSpc>
                <a:spcPct val="92000"/>
              </a:lnSpc>
              <a:spcBef>
                <a:spcPts val="0"/>
              </a:spcBef>
              <a:spcAft>
                <a:spcPts val="0"/>
              </a:spcAft>
            </a:pPr>
            <a:r>
              <a:rPr sz="830" b="0" i="1">
                <a:solidFill>
                  <a:srgbClr val="F39211"/>
                </a:solidFill>
                <a:latin typeface="Calibri"/>
              </a:rPr>
              <a:t>nmc.org.in</a:t>
            </a:r>
          </a:p>
        </p:txBody>
      </p:sp>
      <p:sp>
        <p:nvSpPr>
          <p:cNvPr id="17417" name="Rounded Rectangle 17416"/>
          <p:cNvSpPr/>
          <p:nvPr/>
        </p:nvSpPr>
        <p:spPr>
          <a:xfrm>
            <a:off x="6272784" y="1133856"/>
            <a:ext cx="5614416" cy="1481328"/>
          </a:xfrm>
          <a:prstGeom prst="roundRect">
            <a:avLst>
              <a:gd name="adj" fmla="val 9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8" name="TextBox 17417"/>
          <p:cNvSpPr txBox="1"/>
          <p:nvPr/>
        </p:nvSpPr>
        <p:spPr>
          <a:xfrm>
            <a:off x="6419088" y="1225296"/>
            <a:ext cx="5303520" cy="237744"/>
          </a:xfrm>
          <a:prstGeom prst="rect">
            <a:avLst/>
          </a:prstGeom>
          <a:noFill/>
        </p:spPr>
        <p:txBody>
          <a:bodyPr wrap="square" lIns="0" rIns="0" tIns="0" bIns="0" anchor="t">
            <a:spAutoFit/>
          </a:bodyPr>
          <a:lstStyle/>
          <a:p>
            <a:pPr algn="l">
              <a:spcBef>
                <a:spcPts val="0"/>
              </a:spcBef>
              <a:spcAft>
                <a:spcPts val="0"/>
              </a:spcAft>
            </a:pPr>
            <a:r>
              <a:rPr sz="1150" b="1" i="0">
                <a:solidFill>
                  <a:srgbClr val="0B3C78"/>
                </a:solidFill>
                <a:latin typeface="Calibri"/>
              </a:rPr>
              <a:t>Project resources</a:t>
            </a:r>
          </a:p>
        </p:txBody>
      </p:sp>
      <p:sp>
        <p:nvSpPr>
          <p:cNvPr id="17419" name="TextBox 17418"/>
          <p:cNvSpPr txBox="1"/>
          <p:nvPr/>
        </p:nvSpPr>
        <p:spPr>
          <a:xfrm>
            <a:off x="6419088" y="1481328"/>
            <a:ext cx="5303520" cy="237744"/>
          </a:xfrm>
          <a:prstGeom prst="rect">
            <a:avLst/>
          </a:prstGeom>
          <a:noFill/>
        </p:spPr>
        <p:txBody>
          <a:bodyPr wrap="square" lIns="0" rIns="0" tIns="0" bIns="0" anchor="t">
            <a:spAutoFit/>
          </a:bodyPr>
          <a:lstStyle/>
          <a:p>
            <a:pPr algn="l">
              <a:lnSpc>
                <a:spcPct val="92000"/>
              </a:lnSpc>
              <a:spcBef>
                <a:spcPts val="0"/>
              </a:spcBef>
              <a:spcAft>
                <a:spcPts val="0"/>
              </a:spcAft>
            </a:pPr>
            <a:r>
              <a:rPr sz="930" b="1" i="0">
                <a:solidFill>
                  <a:srgbClr val="0F2037"/>
                </a:solidFill>
                <a:latin typeface="Calibri"/>
              </a:rPr>
              <a:t>Live prototype   </a:t>
            </a:r>
            <a:r>
              <a:rPr sz="930" b="0" i="0">
                <a:solidFill>
                  <a:srgbClr val="0B3C78"/>
                </a:solidFill>
                <a:latin typeface="Calibri"/>
              </a:rPr>
              <a:t>ruralai-psi.vercel.app</a:t>
            </a:r>
          </a:p>
        </p:txBody>
      </p:sp>
      <p:sp>
        <p:nvSpPr>
          <p:cNvPr id="17420" name="TextBox 17419"/>
          <p:cNvSpPr txBox="1"/>
          <p:nvPr/>
        </p:nvSpPr>
        <p:spPr>
          <a:xfrm>
            <a:off x="6419088" y="1746504"/>
            <a:ext cx="5303520" cy="237744"/>
          </a:xfrm>
          <a:prstGeom prst="rect">
            <a:avLst/>
          </a:prstGeom>
          <a:noFill/>
        </p:spPr>
        <p:txBody>
          <a:bodyPr wrap="square" lIns="0" rIns="0" tIns="0" bIns="0" anchor="t">
            <a:spAutoFit/>
          </a:bodyPr>
          <a:lstStyle/>
          <a:p>
            <a:pPr algn="l">
              <a:lnSpc>
                <a:spcPct val="92000"/>
              </a:lnSpc>
              <a:spcBef>
                <a:spcPts val="0"/>
              </a:spcBef>
              <a:spcAft>
                <a:spcPts val="0"/>
              </a:spcAft>
            </a:pPr>
            <a:r>
              <a:rPr sz="930" b="1" i="0">
                <a:solidFill>
                  <a:srgbClr val="0F2037"/>
                </a:solidFill>
                <a:latin typeface="Calibri"/>
              </a:rPr>
              <a:t>Source code   </a:t>
            </a:r>
            <a:r>
              <a:rPr sz="930" b="0" i="0">
                <a:solidFill>
                  <a:srgbClr val="0B3C78"/>
                </a:solidFill>
                <a:latin typeface="Calibri"/>
              </a:rPr>
              <a:t>github.com/PriyamMishra853/RURALAI-</a:t>
            </a:r>
          </a:p>
        </p:txBody>
      </p:sp>
      <p:sp>
        <p:nvSpPr>
          <p:cNvPr id="17421" name="TextBox 17420"/>
          <p:cNvSpPr txBox="1"/>
          <p:nvPr/>
        </p:nvSpPr>
        <p:spPr>
          <a:xfrm>
            <a:off x="6419088" y="2011680"/>
            <a:ext cx="5303520" cy="237744"/>
          </a:xfrm>
          <a:prstGeom prst="rect">
            <a:avLst/>
          </a:prstGeom>
          <a:noFill/>
        </p:spPr>
        <p:txBody>
          <a:bodyPr wrap="square" lIns="0" rIns="0" tIns="0" bIns="0" anchor="t">
            <a:spAutoFit/>
          </a:bodyPr>
          <a:lstStyle/>
          <a:p>
            <a:pPr algn="l">
              <a:lnSpc>
                <a:spcPct val="92000"/>
              </a:lnSpc>
              <a:spcBef>
                <a:spcPts val="0"/>
              </a:spcBef>
              <a:spcAft>
                <a:spcPts val="0"/>
              </a:spcAft>
            </a:pPr>
            <a:r>
              <a:rPr sz="930" b="1" i="0">
                <a:solidFill>
                  <a:srgbClr val="0F2037"/>
                </a:solidFill>
                <a:latin typeface="Calibri"/>
              </a:rPr>
              <a:t>Architecture document   </a:t>
            </a:r>
            <a:r>
              <a:rPr sz="930" b="0" i="0">
                <a:solidFill>
                  <a:srgbClr val="0B3C78"/>
                </a:solidFill>
                <a:latin typeface="Calibri"/>
              </a:rPr>
              <a:t>PROJECT_DOCUMENTATION/ — 20 sections</a:t>
            </a:r>
          </a:p>
        </p:txBody>
      </p:sp>
      <p:sp>
        <p:nvSpPr>
          <p:cNvPr id="17422" name="TextBox 17421"/>
          <p:cNvSpPr txBox="1"/>
          <p:nvPr/>
        </p:nvSpPr>
        <p:spPr>
          <a:xfrm>
            <a:off x="6419088" y="2276856"/>
            <a:ext cx="5303520" cy="237744"/>
          </a:xfrm>
          <a:prstGeom prst="rect">
            <a:avLst/>
          </a:prstGeom>
          <a:noFill/>
        </p:spPr>
        <p:txBody>
          <a:bodyPr wrap="square" lIns="0" rIns="0" tIns="0" bIns="0" anchor="t">
            <a:spAutoFit/>
          </a:bodyPr>
          <a:lstStyle/>
          <a:p>
            <a:pPr algn="l">
              <a:lnSpc>
                <a:spcPct val="92000"/>
              </a:lnSpc>
              <a:spcBef>
                <a:spcPts val="0"/>
              </a:spcBef>
              <a:spcAft>
                <a:spcPts val="0"/>
              </a:spcAft>
            </a:pPr>
            <a:r>
              <a:rPr sz="930" b="1" i="0">
                <a:solidFill>
                  <a:srgbClr val="0F2037"/>
                </a:solidFill>
                <a:latin typeface="Calibri"/>
              </a:rPr>
              <a:t>Demo video   </a:t>
            </a:r>
            <a:r>
              <a:rPr sz="930" b="0" i="0">
                <a:solidFill>
                  <a:srgbClr val="0B3C78"/>
                </a:solidFill>
                <a:latin typeface="Calibri"/>
              </a:rPr>
              <a:t>[DEMO VIDEO LINK]</a:t>
            </a:r>
          </a:p>
        </p:txBody>
      </p:sp>
      <p:sp>
        <p:nvSpPr>
          <p:cNvPr id="17423" name="Rounded Rectangle 17422"/>
          <p:cNvSpPr/>
          <p:nvPr/>
        </p:nvSpPr>
        <p:spPr>
          <a:xfrm>
            <a:off x="6272784" y="2761488"/>
            <a:ext cx="5614416" cy="1417320"/>
          </a:xfrm>
          <a:prstGeom prst="roundRect">
            <a:avLst>
              <a:gd name="adj" fmla="val 9000"/>
            </a:avLst>
          </a:prstGeom>
          <a:solidFill>
            <a:srgbClr val="F4F7FB"/>
          </a:solidFill>
          <a:ln w="9525">
            <a:solidFill>
              <a:srgbClr val="CDD8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4" name="TextBox 17423"/>
          <p:cNvSpPr txBox="1"/>
          <p:nvPr/>
        </p:nvSpPr>
        <p:spPr>
          <a:xfrm>
            <a:off x="6419088" y="2852928"/>
            <a:ext cx="5303520" cy="237744"/>
          </a:xfrm>
          <a:prstGeom prst="rect">
            <a:avLst/>
          </a:prstGeom>
          <a:noFill/>
        </p:spPr>
        <p:txBody>
          <a:bodyPr wrap="square" lIns="0" rIns="0" tIns="0" bIns="0" anchor="t">
            <a:spAutoFit/>
          </a:bodyPr>
          <a:lstStyle/>
          <a:p>
            <a:pPr algn="l">
              <a:spcBef>
                <a:spcPts val="0"/>
              </a:spcBef>
              <a:spcAft>
                <a:spcPts val="0"/>
              </a:spcAft>
            </a:pPr>
            <a:r>
              <a:rPr sz="1150" b="1" i="0">
                <a:solidFill>
                  <a:srgbClr val="15803D"/>
                </a:solidFill>
                <a:latin typeface="Calibri"/>
              </a:rPr>
              <a:t>Strengthens the public system — does not replace it</a:t>
            </a:r>
          </a:p>
        </p:txBody>
      </p:sp>
      <p:sp>
        <p:nvSpPr>
          <p:cNvPr id="17425" name="TextBox 17424"/>
          <p:cNvSpPr txBox="1"/>
          <p:nvPr/>
        </p:nvSpPr>
        <p:spPr>
          <a:xfrm>
            <a:off x="6419088" y="3108960"/>
            <a:ext cx="5321808" cy="329184"/>
          </a:xfrm>
          <a:prstGeom prst="rect">
            <a:avLst/>
          </a:prstGeom>
          <a:noFill/>
        </p:spPr>
        <p:txBody>
          <a:bodyPr wrap="square" lIns="0" rIns="0" tIns="0" bIns="0" anchor="t">
            <a:spAutoFit/>
          </a:bodyPr>
          <a:lstStyle/>
          <a:p>
            <a:pPr algn="l">
              <a:lnSpc>
                <a:spcPct val="92000"/>
              </a:lnSpc>
              <a:spcBef>
                <a:spcPts val="0"/>
              </a:spcBef>
              <a:spcAft>
                <a:spcPts val="0"/>
              </a:spcAft>
            </a:pPr>
            <a:r>
              <a:rPr sz="919" b="1" i="0">
                <a:solidFill>
                  <a:srgbClr val="0F2037"/>
                </a:solidFill>
                <a:latin typeface="Calibri"/>
              </a:rPr>
              <a:t>eSanjeevani  </a:t>
            </a:r>
            <a:r>
              <a:rPr sz="919" b="0" i="0">
                <a:solidFill>
                  <a:srgbClr val="52647C"/>
                </a:solidFill>
                <a:latin typeface="Calibri"/>
              </a:rPr>
              <a:t>carries the consultation. We prepare the case before it and record the decision after it.</a:t>
            </a:r>
          </a:p>
        </p:txBody>
      </p:sp>
      <p:sp>
        <p:nvSpPr>
          <p:cNvPr id="17426" name="TextBox 17425"/>
          <p:cNvSpPr txBox="1"/>
          <p:nvPr/>
        </p:nvSpPr>
        <p:spPr>
          <a:xfrm>
            <a:off x="6419088" y="3456432"/>
            <a:ext cx="5321808" cy="329184"/>
          </a:xfrm>
          <a:prstGeom prst="rect">
            <a:avLst/>
          </a:prstGeom>
          <a:noFill/>
        </p:spPr>
        <p:txBody>
          <a:bodyPr wrap="square" lIns="0" rIns="0" tIns="0" bIns="0" anchor="t">
            <a:spAutoFit/>
          </a:bodyPr>
          <a:lstStyle/>
          <a:p>
            <a:pPr algn="l">
              <a:lnSpc>
                <a:spcPct val="92000"/>
              </a:lnSpc>
              <a:spcBef>
                <a:spcPts val="0"/>
              </a:spcBef>
              <a:spcAft>
                <a:spcPts val="0"/>
              </a:spcAft>
            </a:pPr>
            <a:r>
              <a:rPr sz="919" b="1" i="0">
                <a:solidFill>
                  <a:srgbClr val="0F2037"/>
                </a:solidFill>
                <a:latin typeface="Calibri"/>
              </a:rPr>
              <a:t>ABDM / ABHA  </a:t>
            </a:r>
            <a:r>
              <a:rPr sz="919" b="0" i="0">
                <a:solidFill>
                  <a:srgbClr val="52647C"/>
                </a:solidFill>
                <a:latin typeface="Calibri"/>
              </a:rPr>
              <a:t>the record is structured for it; ABHA is captured at registration by card OCR.</a:t>
            </a:r>
          </a:p>
        </p:txBody>
      </p:sp>
      <p:sp>
        <p:nvSpPr>
          <p:cNvPr id="17427" name="TextBox 17426"/>
          <p:cNvSpPr txBox="1"/>
          <p:nvPr/>
        </p:nvSpPr>
        <p:spPr>
          <a:xfrm>
            <a:off x="6419088" y="3803904"/>
            <a:ext cx="5321808" cy="329184"/>
          </a:xfrm>
          <a:prstGeom prst="rect">
            <a:avLst/>
          </a:prstGeom>
          <a:noFill/>
        </p:spPr>
        <p:txBody>
          <a:bodyPr wrap="square" lIns="0" rIns="0" tIns="0" bIns="0" anchor="t">
            <a:spAutoFit/>
          </a:bodyPr>
          <a:lstStyle/>
          <a:p>
            <a:pPr algn="l">
              <a:lnSpc>
                <a:spcPct val="92000"/>
              </a:lnSpc>
              <a:spcBef>
                <a:spcPts val="0"/>
              </a:spcBef>
              <a:spcAft>
                <a:spcPts val="0"/>
              </a:spcAft>
            </a:pPr>
            <a:r>
              <a:rPr sz="919" b="1" i="0">
                <a:solidFill>
                  <a:srgbClr val="0F2037"/>
                </a:solidFill>
                <a:latin typeface="Calibri"/>
              </a:rPr>
              <a:t>MoHFW / IPHS protocols  </a:t>
            </a:r>
            <a:r>
              <a:rPr sz="919" b="0" i="0">
                <a:solidFill>
                  <a:srgbClr val="52647C"/>
                </a:solidFill>
                <a:latin typeface="Calibri"/>
              </a:rPr>
              <a:t>retrieval is filtered to approved protocols only, cited with title, source and version.</a:t>
            </a:r>
          </a:p>
        </p:txBody>
      </p:sp>
      <p:sp>
        <p:nvSpPr>
          <p:cNvPr id="17428" name="Rounded Rectangle 17427"/>
          <p:cNvSpPr/>
          <p:nvPr/>
        </p:nvSpPr>
        <p:spPr>
          <a:xfrm>
            <a:off x="6272784" y="4325112"/>
            <a:ext cx="5614416" cy="1883664"/>
          </a:xfrm>
          <a:prstGeom prst="roundRect">
            <a:avLst>
              <a:gd name="adj" fmla="val 9000"/>
            </a:avLst>
          </a:prstGeom>
          <a:solidFill>
            <a:srgbClr val="F4F7FB"/>
          </a:solidFill>
          <a:ln w="9525">
            <a:solidFill>
              <a:srgbClr val="CDD8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9" name="TextBox 17428"/>
          <p:cNvSpPr txBox="1"/>
          <p:nvPr/>
        </p:nvSpPr>
        <p:spPr>
          <a:xfrm>
            <a:off x="6419088" y="4416552"/>
            <a:ext cx="5303520" cy="237744"/>
          </a:xfrm>
          <a:prstGeom prst="rect">
            <a:avLst/>
          </a:prstGeom>
          <a:noFill/>
        </p:spPr>
        <p:txBody>
          <a:bodyPr wrap="square" lIns="0" rIns="0" tIns="0" bIns="0" anchor="t">
            <a:spAutoFit/>
          </a:bodyPr>
          <a:lstStyle/>
          <a:p>
            <a:pPr algn="l">
              <a:spcBef>
                <a:spcPts val="0"/>
              </a:spcBef>
              <a:spcAft>
                <a:spcPts val="0"/>
              </a:spcAft>
            </a:pPr>
            <a:r>
              <a:rPr sz="1150" b="1" i="0">
                <a:solidFill>
                  <a:srgbClr val="0B3C78"/>
                </a:solidFill>
                <a:latin typeface="Calibri"/>
              </a:rPr>
              <a:t>Where existing tools stop</a:t>
            </a:r>
          </a:p>
        </p:txBody>
      </p:sp>
      <p:sp>
        <p:nvSpPr>
          <p:cNvPr id="17430" name="TextBox 17429"/>
          <p:cNvSpPr txBox="1"/>
          <p:nvPr/>
        </p:nvSpPr>
        <p:spPr>
          <a:xfrm>
            <a:off x="6419088" y="4672584"/>
            <a:ext cx="5321808" cy="457200"/>
          </a:xfrm>
          <a:prstGeom prst="rect">
            <a:avLst/>
          </a:prstGeom>
          <a:noFill/>
        </p:spPr>
        <p:txBody>
          <a:bodyPr wrap="square" lIns="0" rIns="0" tIns="0" bIns="0" anchor="t">
            <a:spAutoFit/>
          </a:bodyPr>
          <a:lstStyle/>
          <a:p>
            <a:pPr algn="l">
              <a:lnSpc>
                <a:spcPct val="92000"/>
              </a:lnSpc>
              <a:spcBef>
                <a:spcPts val="0"/>
              </a:spcBef>
              <a:spcAft>
                <a:spcPts val="0"/>
              </a:spcAft>
            </a:pPr>
            <a:r>
              <a:rPr sz="919" b="1" i="0">
                <a:solidFill>
                  <a:srgbClr val="0F2037"/>
                </a:solidFill>
                <a:latin typeface="Calibri"/>
              </a:rPr>
              <a:t>Teleconsultation platforms  </a:t>
            </a:r>
            <a:r>
              <a:rPr sz="919" b="0" i="0">
                <a:solidFill>
                  <a:srgbClr val="52647C"/>
                </a:solidFill>
                <a:latin typeface="Calibri"/>
              </a:rPr>
              <a:t>connect a doctor. They do not triage, read a paper prescription, or hold a record between visits.</a:t>
            </a:r>
          </a:p>
        </p:txBody>
      </p:sp>
      <p:sp>
        <p:nvSpPr>
          <p:cNvPr id="17431" name="TextBox 17430"/>
          <p:cNvSpPr txBox="1"/>
          <p:nvPr/>
        </p:nvSpPr>
        <p:spPr>
          <a:xfrm>
            <a:off x="6419088" y="5166360"/>
            <a:ext cx="5321808" cy="457200"/>
          </a:xfrm>
          <a:prstGeom prst="rect">
            <a:avLst/>
          </a:prstGeom>
          <a:noFill/>
        </p:spPr>
        <p:txBody>
          <a:bodyPr wrap="square" lIns="0" rIns="0" tIns="0" bIns="0" anchor="t">
            <a:spAutoFit/>
          </a:bodyPr>
          <a:lstStyle/>
          <a:p>
            <a:pPr algn="l">
              <a:lnSpc>
                <a:spcPct val="92000"/>
              </a:lnSpc>
              <a:spcBef>
                <a:spcPts val="0"/>
              </a:spcBef>
              <a:spcAft>
                <a:spcPts val="0"/>
              </a:spcAft>
            </a:pPr>
            <a:r>
              <a:rPr sz="919" b="1" i="0">
                <a:solidFill>
                  <a:srgbClr val="0F2037"/>
                </a:solidFill>
                <a:latin typeface="Calibri"/>
              </a:rPr>
              <a:t>Symptom checkers  </a:t>
            </a:r>
            <a:r>
              <a:rPr sz="919" b="0" i="0">
                <a:solidFill>
                  <a:srgbClr val="52647C"/>
                </a:solidFill>
                <a:latin typeface="Calibri"/>
              </a:rPr>
              <a:t>speak to the patient. This speaks to a trained health worker and refuses to name a medicine.</a:t>
            </a:r>
          </a:p>
        </p:txBody>
      </p:sp>
      <p:sp>
        <p:nvSpPr>
          <p:cNvPr id="17432" name="TextBox 17431"/>
          <p:cNvSpPr txBox="1"/>
          <p:nvPr/>
        </p:nvSpPr>
        <p:spPr>
          <a:xfrm>
            <a:off x="6419088" y="5660136"/>
            <a:ext cx="5321808" cy="457200"/>
          </a:xfrm>
          <a:prstGeom prst="rect">
            <a:avLst/>
          </a:prstGeom>
          <a:noFill/>
        </p:spPr>
        <p:txBody>
          <a:bodyPr wrap="square" lIns="0" rIns="0" tIns="0" bIns="0" anchor="t">
            <a:spAutoFit/>
          </a:bodyPr>
          <a:lstStyle/>
          <a:p>
            <a:pPr algn="l">
              <a:lnSpc>
                <a:spcPct val="92000"/>
              </a:lnSpc>
              <a:spcBef>
                <a:spcPts val="0"/>
              </a:spcBef>
              <a:spcAft>
                <a:spcPts val="0"/>
              </a:spcAft>
            </a:pPr>
            <a:r>
              <a:rPr sz="919" b="1" i="0">
                <a:solidFill>
                  <a:srgbClr val="0F2037"/>
                </a:solidFill>
                <a:latin typeface="Calibri"/>
              </a:rPr>
              <a:t>Hospital information systems  </a:t>
            </a:r>
            <a:r>
              <a:rPr sz="919" b="0" i="0">
                <a:solidFill>
                  <a:srgbClr val="52647C"/>
                </a:solidFill>
                <a:latin typeface="Calibri"/>
              </a:rPr>
              <a:t>begin at the hospital door — after the journey this platform exists to avoid.</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